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70" r:id="rId9"/>
    <p:sldId id="271" r:id="rId10"/>
    <p:sldId id="272" r:id="rId11"/>
    <p:sldId id="273" r:id="rId12"/>
    <p:sldId id="274" r:id="rId13"/>
    <p:sldId id="275" r:id="rId14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5D"/>
    <a:srgbClr val="0087CF"/>
    <a:srgbClr val="118FCB"/>
    <a:srgbClr val="2BB268"/>
    <a:srgbClr val="1D8F99"/>
    <a:srgbClr val="8EC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54" autoAdjust="0"/>
    <p:restoredTop sz="94660"/>
  </p:normalViewPr>
  <p:slideViewPr>
    <p:cSldViewPr>
      <p:cViewPr varScale="1">
        <p:scale>
          <a:sx n="38" d="100"/>
          <a:sy n="38" d="100"/>
        </p:scale>
        <p:origin x="64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flip="none" rotWithShape="1">
              <a:gsLst>
                <a:gs pos="100000">
                  <a:srgbClr val="118FCB"/>
                </a:gs>
                <a:gs pos="0">
                  <a:srgbClr val="2BB268"/>
                </a:gs>
              </a:gsLst>
              <a:lin ang="10800000" scaled="1"/>
              <a:tileRect/>
            </a:gradFill>
            <a:ln>
              <a:solidFill>
                <a:schemeClr val="accent1"/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gradFill flip="none" rotWithShape="1">
                <a:gsLst>
                  <a:gs pos="100000">
                    <a:srgbClr val="0087CF"/>
                  </a:gs>
                  <a:gs pos="0">
                    <a:srgbClr val="00B15D"/>
                  </a:gs>
                </a:gsLst>
                <a:lin ang="10800000" scaled="1"/>
                <a:tileRect/>
              </a:gra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B11-4C2A-AF6C-0AA863ACEB65}"/>
              </c:ext>
            </c:extLst>
          </c:dPt>
          <c:dLbls>
            <c:numFmt formatCode="#,##0\ &quot;₽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200" b="0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Цена реализации (с наценкой 25%)</c:v>
                </c:pt>
                <c:pt idx="1">
                  <c:v>Себестоимость</c:v>
                </c:pt>
              </c:strCache>
            </c:strRef>
          </c:cat>
          <c:val>
            <c:numRef>
              <c:f>Лист1!$B$2:$B$3</c:f>
              <c:numCache>
                <c:formatCode>#,##0</c:formatCode>
                <c:ptCount val="2"/>
                <c:pt idx="0">
                  <c:v>293749</c:v>
                </c:pt>
                <c:pt idx="1">
                  <c:v>215090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11-4C2A-AF6C-0AA863ACEB6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92167135"/>
        <c:axId val="109458959"/>
      </c:barChart>
      <c:catAx>
        <c:axId val="2092167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3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09458959"/>
        <c:crosses val="autoZero"/>
        <c:auto val="1"/>
        <c:lblAlgn val="ctr"/>
        <c:lblOffset val="100"/>
        <c:noMultiLvlLbl val="0"/>
      </c:catAx>
      <c:valAx>
        <c:axId val="10945895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&quot;₽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092167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99000"/>
            <a:lum/>
          </a:blip>
          <a:srcRect/>
          <a:stretch>
            <a:fillRect l="50000" b="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6" Type="http://schemas.microsoft.com/office/2007/relationships/hdphoto" Target="../media/hdphoto2.wdp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Группа 149">
            <a:extLst>
              <a:ext uri="{FF2B5EF4-FFF2-40B4-BE49-F238E27FC236}">
                <a16:creationId xmlns:a16="http://schemas.microsoft.com/office/drawing/2014/main" id="{15BBA81E-8500-E913-F69A-2BBCC189310A}"/>
              </a:ext>
            </a:extLst>
          </p:cNvPr>
          <p:cNvGrpSpPr/>
          <p:nvPr/>
        </p:nvGrpSpPr>
        <p:grpSpPr>
          <a:xfrm>
            <a:off x="630639" y="8069958"/>
            <a:ext cx="3496469" cy="789918"/>
            <a:chOff x="710016" y="8280249"/>
            <a:chExt cx="3496469" cy="789918"/>
          </a:xfrm>
        </p:grpSpPr>
        <p:grpSp>
          <p:nvGrpSpPr>
            <p:cNvPr id="111" name="object 111"/>
            <p:cNvGrpSpPr/>
            <p:nvPr/>
          </p:nvGrpSpPr>
          <p:grpSpPr>
            <a:xfrm>
              <a:off x="1755916" y="8280249"/>
              <a:ext cx="1399540" cy="230504"/>
              <a:chOff x="1755009" y="9774320"/>
              <a:chExt cx="1399540" cy="230504"/>
            </a:xfrm>
          </p:grpSpPr>
          <p:pic>
            <p:nvPicPr>
              <p:cNvPr id="112" name="object 112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755009" y="9816200"/>
                <a:ext cx="247657" cy="188203"/>
              </a:xfrm>
              <a:prstGeom prst="rect">
                <a:avLst/>
              </a:prstGeom>
            </p:spPr>
          </p:pic>
          <p:pic>
            <p:nvPicPr>
              <p:cNvPr id="113" name="object 113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027748" y="9816200"/>
                <a:ext cx="291344" cy="188203"/>
              </a:xfrm>
              <a:prstGeom prst="rect">
                <a:avLst/>
              </a:prstGeom>
            </p:spPr>
          </p:pic>
          <p:pic>
            <p:nvPicPr>
              <p:cNvPr id="114" name="object 114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344176" y="9816208"/>
                <a:ext cx="314891" cy="188193"/>
              </a:xfrm>
              <a:prstGeom prst="rect">
                <a:avLst/>
              </a:prstGeom>
            </p:spPr>
          </p:pic>
          <p:pic>
            <p:nvPicPr>
              <p:cNvPr id="115" name="object 115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681032" y="9819818"/>
                <a:ext cx="299369" cy="180968"/>
              </a:xfrm>
              <a:prstGeom prst="rect">
                <a:avLst/>
              </a:prstGeom>
            </p:spPr>
          </p:pic>
          <p:pic>
            <p:nvPicPr>
              <p:cNvPr id="116" name="object 11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014012" y="9774320"/>
                <a:ext cx="140372" cy="226464"/>
              </a:xfrm>
              <a:prstGeom prst="rect">
                <a:avLst/>
              </a:prstGeom>
            </p:spPr>
          </p:pic>
        </p:grpSp>
        <p:sp>
          <p:nvSpPr>
            <p:cNvPr id="117" name="object 117"/>
            <p:cNvSpPr/>
            <p:nvPr/>
          </p:nvSpPr>
          <p:spPr>
            <a:xfrm>
              <a:off x="1755913" y="8626017"/>
              <a:ext cx="36195" cy="146050"/>
            </a:xfrm>
            <a:custGeom>
              <a:avLst/>
              <a:gdLst/>
              <a:ahLst/>
              <a:cxnLst/>
              <a:rect l="l" t="t" r="r" b="b"/>
              <a:pathLst>
                <a:path w="36194" h="146050">
                  <a:moveTo>
                    <a:pt x="0" y="146050"/>
                  </a:moveTo>
                  <a:lnTo>
                    <a:pt x="35663" y="146050"/>
                  </a:lnTo>
                  <a:lnTo>
                    <a:pt x="35663" y="0"/>
                  </a:lnTo>
                  <a:lnTo>
                    <a:pt x="0" y="0"/>
                  </a:lnTo>
                  <a:lnTo>
                    <a:pt x="0" y="146050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8" name="object 118"/>
            <p:cNvGrpSpPr/>
            <p:nvPr/>
          </p:nvGrpSpPr>
          <p:grpSpPr>
            <a:xfrm>
              <a:off x="1755913" y="8588112"/>
              <a:ext cx="678815" cy="188595"/>
              <a:chOff x="1755006" y="10082183"/>
              <a:chExt cx="678815" cy="188595"/>
            </a:xfrm>
          </p:grpSpPr>
          <p:sp>
            <p:nvSpPr>
              <p:cNvPr id="119" name="object 119"/>
              <p:cNvSpPr/>
              <p:nvPr/>
            </p:nvSpPr>
            <p:spPr>
              <a:xfrm>
                <a:off x="1755000" y="10085800"/>
                <a:ext cx="135255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5255" h="180340">
                    <a:moveTo>
                      <a:pt x="135204" y="0"/>
                    </a:moveTo>
                    <a:lnTo>
                      <a:pt x="0" y="0"/>
                    </a:lnTo>
                    <a:lnTo>
                      <a:pt x="0" y="34290"/>
                    </a:lnTo>
                    <a:lnTo>
                      <a:pt x="99529" y="34290"/>
                    </a:lnTo>
                    <a:lnTo>
                      <a:pt x="99529" y="180340"/>
                    </a:lnTo>
                    <a:lnTo>
                      <a:pt x="135204" y="180340"/>
                    </a:lnTo>
                    <a:lnTo>
                      <a:pt x="135204" y="34290"/>
                    </a:lnTo>
                    <a:lnTo>
                      <a:pt x="135204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0" name="object 120"/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915544" y="10082183"/>
                <a:ext cx="343833" cy="188203"/>
              </a:xfrm>
              <a:prstGeom prst="rect">
                <a:avLst/>
              </a:prstGeom>
            </p:spPr>
          </p:pic>
          <p:pic>
            <p:nvPicPr>
              <p:cNvPr id="121" name="object 121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2292998" y="10085799"/>
                <a:ext cx="140372" cy="180968"/>
              </a:xfrm>
              <a:prstGeom prst="rect">
                <a:avLst/>
              </a:prstGeom>
            </p:spPr>
          </p:pic>
        </p:grpSp>
        <p:grpSp>
          <p:nvGrpSpPr>
            <p:cNvPr id="122" name="object 122"/>
            <p:cNvGrpSpPr/>
            <p:nvPr/>
          </p:nvGrpSpPr>
          <p:grpSpPr>
            <a:xfrm>
              <a:off x="2454440" y="8591247"/>
              <a:ext cx="483870" cy="181610"/>
              <a:chOff x="2453533" y="10085318"/>
              <a:chExt cx="483870" cy="181610"/>
            </a:xfrm>
          </p:grpSpPr>
          <p:sp>
            <p:nvSpPr>
              <p:cNvPr id="123" name="object 123"/>
              <p:cNvSpPr/>
              <p:nvPr/>
            </p:nvSpPr>
            <p:spPr>
              <a:xfrm>
                <a:off x="2453525" y="10085800"/>
                <a:ext cx="133350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80340">
                    <a:moveTo>
                      <a:pt x="133134" y="0"/>
                    </a:moveTo>
                    <a:lnTo>
                      <a:pt x="0" y="0"/>
                    </a:lnTo>
                    <a:lnTo>
                      <a:pt x="0" y="34290"/>
                    </a:lnTo>
                    <a:lnTo>
                      <a:pt x="48602" y="34290"/>
                    </a:lnTo>
                    <a:lnTo>
                      <a:pt x="48602" y="180340"/>
                    </a:lnTo>
                    <a:lnTo>
                      <a:pt x="84277" y="180340"/>
                    </a:lnTo>
                    <a:lnTo>
                      <a:pt x="84277" y="34290"/>
                    </a:lnTo>
                    <a:lnTo>
                      <a:pt x="133134" y="34290"/>
                    </a:lnTo>
                    <a:lnTo>
                      <a:pt x="133134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4" name="object 124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2606570" y="10085318"/>
                <a:ext cx="274813" cy="181610"/>
              </a:xfrm>
              <a:prstGeom prst="rect">
                <a:avLst/>
              </a:prstGeom>
            </p:spPr>
          </p:pic>
          <p:sp>
            <p:nvSpPr>
              <p:cNvPr id="125" name="object 125"/>
              <p:cNvSpPr/>
              <p:nvPr/>
            </p:nvSpPr>
            <p:spPr>
              <a:xfrm>
                <a:off x="2901288" y="10191209"/>
                <a:ext cx="36195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36194" h="74929">
                    <a:moveTo>
                      <a:pt x="0" y="74930"/>
                    </a:moveTo>
                    <a:lnTo>
                      <a:pt x="35674" y="74930"/>
                    </a:lnTo>
                    <a:lnTo>
                      <a:pt x="35674" y="0"/>
                    </a:lnTo>
                    <a:lnTo>
                      <a:pt x="0" y="0"/>
                    </a:lnTo>
                    <a:lnTo>
                      <a:pt x="0" y="7493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126" name="object 126"/>
            <p:cNvGrpSpPr/>
            <p:nvPr/>
          </p:nvGrpSpPr>
          <p:grpSpPr>
            <a:xfrm>
              <a:off x="2902195" y="8546230"/>
              <a:ext cx="1304290" cy="230504"/>
              <a:chOff x="2901288" y="10040301"/>
              <a:chExt cx="1304290" cy="230504"/>
            </a:xfrm>
          </p:grpSpPr>
          <p:sp>
            <p:nvSpPr>
              <p:cNvPr id="127" name="object 127"/>
              <p:cNvSpPr/>
              <p:nvPr/>
            </p:nvSpPr>
            <p:spPr>
              <a:xfrm>
                <a:off x="2901277" y="10085800"/>
                <a:ext cx="138430" cy="180340"/>
              </a:xfrm>
              <a:custGeom>
                <a:avLst/>
                <a:gdLst/>
                <a:ahLst/>
                <a:cxnLst/>
                <a:rect l="l" t="t" r="r" b="b"/>
                <a:pathLst>
                  <a:path w="138430" h="180340">
                    <a:moveTo>
                      <a:pt x="138315" y="0"/>
                    </a:moveTo>
                    <a:lnTo>
                      <a:pt x="102895" y="0"/>
                    </a:lnTo>
                    <a:lnTo>
                      <a:pt x="102895" y="72390"/>
                    </a:lnTo>
                    <a:lnTo>
                      <a:pt x="35674" y="72390"/>
                    </a:lnTo>
                    <a:lnTo>
                      <a:pt x="35674" y="0"/>
                    </a:lnTo>
                    <a:lnTo>
                      <a:pt x="0" y="0"/>
                    </a:lnTo>
                    <a:lnTo>
                      <a:pt x="0" y="72390"/>
                    </a:lnTo>
                    <a:lnTo>
                      <a:pt x="0" y="105410"/>
                    </a:lnTo>
                    <a:lnTo>
                      <a:pt x="102895" y="105410"/>
                    </a:lnTo>
                    <a:lnTo>
                      <a:pt x="102895" y="180340"/>
                    </a:lnTo>
                    <a:lnTo>
                      <a:pt x="138315" y="180340"/>
                    </a:lnTo>
                    <a:lnTo>
                      <a:pt x="138315" y="105410"/>
                    </a:lnTo>
                    <a:lnTo>
                      <a:pt x="138315" y="72390"/>
                    </a:lnTo>
                    <a:lnTo>
                      <a:pt x="138315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28" name="object 128"/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3073217" y="10085799"/>
                <a:ext cx="140372" cy="180968"/>
              </a:xfrm>
              <a:prstGeom prst="rect">
                <a:avLst/>
              </a:prstGeom>
            </p:spPr>
          </p:pic>
          <p:pic>
            <p:nvPicPr>
              <p:cNvPr id="129" name="object 129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3243314" y="10085798"/>
                <a:ext cx="133922" cy="180968"/>
              </a:xfrm>
              <a:prstGeom prst="rect">
                <a:avLst/>
              </a:prstGeom>
            </p:spPr>
          </p:pic>
          <p:pic>
            <p:nvPicPr>
              <p:cNvPr id="130" name="object 130"/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3410829" y="10082191"/>
                <a:ext cx="299392" cy="188193"/>
              </a:xfrm>
              <a:prstGeom prst="rect">
                <a:avLst/>
              </a:prstGeom>
            </p:spPr>
          </p:pic>
          <p:pic>
            <p:nvPicPr>
              <p:cNvPr id="131" name="object 131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3732186" y="10085799"/>
                <a:ext cx="299368" cy="180968"/>
              </a:xfrm>
              <a:prstGeom prst="rect">
                <a:avLst/>
              </a:prstGeom>
            </p:spPr>
          </p:pic>
          <p:pic>
            <p:nvPicPr>
              <p:cNvPr id="132" name="object 132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065164" y="10040301"/>
                <a:ext cx="140372" cy="226464"/>
              </a:xfrm>
              <a:prstGeom prst="rect">
                <a:avLst/>
              </a:prstGeom>
            </p:spPr>
          </p:pic>
        </p:grpSp>
        <p:grpSp>
          <p:nvGrpSpPr>
            <p:cNvPr id="133" name="object 133"/>
            <p:cNvGrpSpPr/>
            <p:nvPr/>
          </p:nvGrpSpPr>
          <p:grpSpPr>
            <a:xfrm>
              <a:off x="1755912" y="8850457"/>
              <a:ext cx="1221105" cy="219710"/>
              <a:chOff x="1755005" y="10344528"/>
              <a:chExt cx="1221105" cy="219710"/>
            </a:xfrm>
          </p:grpSpPr>
          <p:pic>
            <p:nvPicPr>
              <p:cNvPr id="134" name="object 134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755005" y="10344528"/>
                <a:ext cx="479045" cy="188203"/>
              </a:xfrm>
              <a:prstGeom prst="rect">
                <a:avLst/>
              </a:prstGeom>
            </p:spPr>
          </p:pic>
          <p:pic>
            <p:nvPicPr>
              <p:cNvPr id="135" name="object 135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2253696" y="10348145"/>
                <a:ext cx="155115" cy="181837"/>
              </a:xfrm>
              <a:prstGeom prst="rect">
                <a:avLst/>
              </a:prstGeom>
            </p:spPr>
          </p:pic>
          <p:sp>
            <p:nvSpPr>
              <p:cNvPr id="136" name="object 136"/>
              <p:cNvSpPr/>
              <p:nvPr/>
            </p:nvSpPr>
            <p:spPr>
              <a:xfrm>
                <a:off x="2442413" y="10347674"/>
                <a:ext cx="533400" cy="216535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216534">
                    <a:moveTo>
                      <a:pt x="111937" y="147320"/>
                    </a:moveTo>
                    <a:lnTo>
                      <a:pt x="35674" y="147320"/>
                    </a:lnTo>
                    <a:lnTo>
                      <a:pt x="35674" y="106680"/>
                    </a:lnTo>
                    <a:lnTo>
                      <a:pt x="104178" y="106680"/>
                    </a:lnTo>
                    <a:lnTo>
                      <a:pt x="104178" y="73660"/>
                    </a:lnTo>
                    <a:lnTo>
                      <a:pt x="35674" y="73660"/>
                    </a:lnTo>
                    <a:lnTo>
                      <a:pt x="35674" y="34290"/>
                    </a:lnTo>
                    <a:lnTo>
                      <a:pt x="110655" y="34290"/>
                    </a:lnTo>
                    <a:lnTo>
                      <a:pt x="110655" y="0"/>
                    </a:lnTo>
                    <a:lnTo>
                      <a:pt x="0" y="0"/>
                    </a:lnTo>
                    <a:lnTo>
                      <a:pt x="0" y="34290"/>
                    </a:lnTo>
                    <a:lnTo>
                      <a:pt x="0" y="73660"/>
                    </a:lnTo>
                    <a:lnTo>
                      <a:pt x="0" y="106680"/>
                    </a:lnTo>
                    <a:lnTo>
                      <a:pt x="0" y="147320"/>
                    </a:lnTo>
                    <a:lnTo>
                      <a:pt x="0" y="181610"/>
                    </a:lnTo>
                    <a:lnTo>
                      <a:pt x="111937" y="181610"/>
                    </a:lnTo>
                    <a:lnTo>
                      <a:pt x="111937" y="147320"/>
                    </a:lnTo>
                    <a:close/>
                  </a:path>
                  <a:path w="533400" h="216534">
                    <a:moveTo>
                      <a:pt x="295490" y="147320"/>
                    </a:moveTo>
                    <a:lnTo>
                      <a:pt x="276110" y="147320"/>
                    </a:lnTo>
                    <a:lnTo>
                      <a:pt x="276110" y="33832"/>
                    </a:lnTo>
                    <a:lnTo>
                      <a:pt x="276110" y="469"/>
                    </a:lnTo>
                    <a:lnTo>
                      <a:pt x="240423" y="469"/>
                    </a:lnTo>
                    <a:lnTo>
                      <a:pt x="240423" y="33832"/>
                    </a:lnTo>
                    <a:lnTo>
                      <a:pt x="240423" y="147320"/>
                    </a:lnTo>
                    <a:lnTo>
                      <a:pt x="179933" y="147320"/>
                    </a:lnTo>
                    <a:lnTo>
                      <a:pt x="185369" y="135470"/>
                    </a:lnTo>
                    <a:lnTo>
                      <a:pt x="189242" y="121399"/>
                    </a:lnTo>
                    <a:lnTo>
                      <a:pt x="191566" y="105003"/>
                    </a:lnTo>
                    <a:lnTo>
                      <a:pt x="192341" y="86563"/>
                    </a:lnTo>
                    <a:lnTo>
                      <a:pt x="192341" y="33832"/>
                    </a:lnTo>
                    <a:lnTo>
                      <a:pt x="240423" y="33832"/>
                    </a:lnTo>
                    <a:lnTo>
                      <a:pt x="240423" y="469"/>
                    </a:lnTo>
                    <a:lnTo>
                      <a:pt x="156679" y="469"/>
                    </a:lnTo>
                    <a:lnTo>
                      <a:pt x="156654" y="86563"/>
                    </a:lnTo>
                    <a:lnTo>
                      <a:pt x="155714" y="105105"/>
                    </a:lnTo>
                    <a:lnTo>
                      <a:pt x="152920" y="121539"/>
                    </a:lnTo>
                    <a:lnTo>
                      <a:pt x="148234" y="135636"/>
                    </a:lnTo>
                    <a:lnTo>
                      <a:pt x="141668" y="147320"/>
                    </a:lnTo>
                    <a:lnTo>
                      <a:pt x="124091" y="147320"/>
                    </a:lnTo>
                    <a:lnTo>
                      <a:pt x="124091" y="216090"/>
                    </a:lnTo>
                    <a:lnTo>
                      <a:pt x="159766" y="216090"/>
                    </a:lnTo>
                    <a:lnTo>
                      <a:pt x="159766" y="181457"/>
                    </a:lnTo>
                    <a:lnTo>
                      <a:pt x="259816" y="181457"/>
                    </a:lnTo>
                    <a:lnTo>
                      <a:pt x="259816" y="216090"/>
                    </a:lnTo>
                    <a:lnTo>
                      <a:pt x="295490" y="216090"/>
                    </a:lnTo>
                    <a:lnTo>
                      <a:pt x="295490" y="181457"/>
                    </a:lnTo>
                    <a:lnTo>
                      <a:pt x="295490" y="147320"/>
                    </a:lnTo>
                    <a:close/>
                  </a:path>
                  <a:path w="533400" h="216534">
                    <a:moveTo>
                      <a:pt x="533069" y="181444"/>
                    </a:moveTo>
                    <a:lnTo>
                      <a:pt x="469988" y="89141"/>
                    </a:lnTo>
                    <a:lnTo>
                      <a:pt x="530479" y="482"/>
                    </a:lnTo>
                    <a:lnTo>
                      <a:pt x="490664" y="482"/>
                    </a:lnTo>
                    <a:lnTo>
                      <a:pt x="437159" y="81140"/>
                    </a:lnTo>
                    <a:lnTo>
                      <a:pt x="437159" y="482"/>
                    </a:lnTo>
                    <a:lnTo>
                      <a:pt x="401472" y="482"/>
                    </a:lnTo>
                    <a:lnTo>
                      <a:pt x="401472" y="81140"/>
                    </a:lnTo>
                    <a:lnTo>
                      <a:pt x="347967" y="482"/>
                    </a:lnTo>
                    <a:lnTo>
                      <a:pt x="308419" y="482"/>
                    </a:lnTo>
                    <a:lnTo>
                      <a:pt x="368642" y="89141"/>
                    </a:lnTo>
                    <a:lnTo>
                      <a:pt x="305816" y="181444"/>
                    </a:lnTo>
                    <a:lnTo>
                      <a:pt x="345363" y="181444"/>
                    </a:lnTo>
                    <a:lnTo>
                      <a:pt x="401472" y="98971"/>
                    </a:lnTo>
                    <a:lnTo>
                      <a:pt x="401472" y="181444"/>
                    </a:lnTo>
                    <a:lnTo>
                      <a:pt x="437159" y="181444"/>
                    </a:lnTo>
                    <a:lnTo>
                      <a:pt x="437159" y="98971"/>
                    </a:lnTo>
                    <a:lnTo>
                      <a:pt x="493255" y="181444"/>
                    </a:lnTo>
                    <a:lnTo>
                      <a:pt x="533069" y="181444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37" name="object 1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10016" y="8329504"/>
              <a:ext cx="124530" cy="43528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0016" y="8817196"/>
              <a:ext cx="124530" cy="217888"/>
            </a:xfrm>
            <a:prstGeom prst="rect">
              <a:avLst/>
            </a:prstGeom>
          </p:spPr>
        </p:pic>
        <p:grpSp>
          <p:nvGrpSpPr>
            <p:cNvPr id="139" name="object 139"/>
            <p:cNvGrpSpPr/>
            <p:nvPr/>
          </p:nvGrpSpPr>
          <p:grpSpPr>
            <a:xfrm>
              <a:off x="710016" y="8329504"/>
              <a:ext cx="934719" cy="706120"/>
              <a:chOff x="709109" y="9823575"/>
              <a:chExt cx="934719" cy="706120"/>
            </a:xfrm>
          </p:grpSpPr>
          <p:pic>
            <p:nvPicPr>
              <p:cNvPr id="140" name="object 140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1203724" y="10089021"/>
                <a:ext cx="174277" cy="174277"/>
              </a:xfrm>
              <a:prstGeom prst="rect">
                <a:avLst/>
              </a:prstGeom>
            </p:spPr>
          </p:pic>
          <p:pic>
            <p:nvPicPr>
              <p:cNvPr id="141" name="object 141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709109" y="9823575"/>
                <a:ext cx="934264" cy="705580"/>
              </a:xfrm>
              <a:prstGeom prst="rect">
                <a:avLst/>
              </a:prstGeom>
            </p:spPr>
          </p:pic>
        </p:grpSp>
      </p:grpSp>
      <p:sp>
        <p:nvSpPr>
          <p:cNvPr id="144" name="Заголовок 1">
            <a:extLst>
              <a:ext uri="{FF2B5EF4-FFF2-40B4-BE49-F238E27FC236}">
                <a16:creationId xmlns:a16="http://schemas.microsoft.com/office/drawing/2014/main" id="{7854EBF9-0D86-622C-5DFD-82549E57128F}"/>
              </a:ext>
            </a:extLst>
          </p:cNvPr>
          <p:cNvSpPr>
            <a:spLocks/>
          </p:cNvSpPr>
          <p:nvPr/>
        </p:nvSpPr>
        <p:spPr>
          <a:xfrm>
            <a:off x="5036307" y="0"/>
            <a:ext cx="10031486" cy="264719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Департамент образования и науки</a:t>
            </a:r>
            <a:b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Ханты-Мансийского автономного округа </a:t>
            </a: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Югры</a:t>
            </a:r>
            <a:b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БЮДЖЕТНОЕ УЧРЕЖДЕНИЕ</a:t>
            </a:r>
            <a:br>
              <a:rPr kumimoji="0" lang="ru-RU" sz="28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ПРОФЕССИОНАЛЬНОГО ОБРАЗОВАНИЯ</a:t>
            </a:r>
            <a:br>
              <a:rPr kumimoji="0" lang="ru-RU" sz="28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ХАНТЫ-МАНСИЙСКОГО АВТОНОМНОГО ОКРУГА – ЮГРЫ</a:t>
            </a:r>
            <a:br>
              <a:rPr kumimoji="0" lang="ru-RU" sz="2800" b="0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sz="28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kumimoji="0" lang="ru-RU" sz="2800" b="1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ЮГОРСКИЙ ПОЛИТЕХНИЧЕСКИЙ КОЛЛЕДЖ</a:t>
            </a:r>
            <a:r>
              <a:rPr kumimoji="0" lang="ru-RU" sz="2800" b="1" i="0" u="none" strike="noStrike" kern="1200" cap="none" spc="-5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kumimoji="0" lang="ru-RU" sz="2800" b="0" i="0" u="none" strike="noStrike" kern="1200" cap="none" spc="-5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6" name="Заголовок 6">
            <a:extLst>
              <a:ext uri="{FF2B5EF4-FFF2-40B4-BE49-F238E27FC236}">
                <a16:creationId xmlns:a16="http://schemas.microsoft.com/office/drawing/2014/main" id="{7E40CDEE-E2D8-5B6A-30E3-065EBFE6CAA6}"/>
              </a:ext>
            </a:extLst>
          </p:cNvPr>
          <p:cNvSpPr txBox="1">
            <a:spLocks/>
          </p:cNvSpPr>
          <p:nvPr/>
        </p:nvSpPr>
        <p:spPr>
          <a:xfrm>
            <a:off x="6205051" y="4677741"/>
            <a:ext cx="7693999" cy="195386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 defTabSz="457200" rtl="0">
              <a:lnSpc>
                <a:spcPct val="150000"/>
              </a:lnSpc>
              <a:defRPr/>
            </a:pPr>
            <a:r>
              <a:rPr lang="ru-RU" sz="2800" b="1" kern="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ДИПЛОМНЫЙ ПРОЕКТ</a:t>
            </a:r>
          </a:p>
          <a:p>
            <a:pPr algn="ctr" defTabSz="457200" rtl="0">
              <a:lnSpc>
                <a:spcPct val="150000"/>
              </a:lnSpc>
              <a:defRPr/>
            </a:pPr>
            <a:r>
              <a:rPr lang="ru-RU" sz="2800" b="1" kern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РАЗРАБОТКА САЙТА ДЛЯ ЦВЕТОЧНОГО МАГАЗИНА</a:t>
            </a:r>
            <a:endParaRPr lang="ru-RU" sz="2800" b="1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21AC6E7-894A-64F9-F6B3-42AF1CA0565D}"/>
              </a:ext>
            </a:extLst>
          </p:cNvPr>
          <p:cNvSpPr txBox="1"/>
          <p:nvPr/>
        </p:nvSpPr>
        <p:spPr>
          <a:xfrm>
            <a:off x="5270555" y="2977962"/>
            <a:ext cx="956299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(БУ «ЮГОРСКИЙ ПОЛИТЕХНИЧЕСКИЙ КОЛЛЕДЖ»)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DF7E0346-2C16-957A-61C3-E70F122D0E2E}"/>
              </a:ext>
            </a:extLst>
          </p:cNvPr>
          <p:cNvSpPr txBox="1"/>
          <p:nvPr/>
        </p:nvSpPr>
        <p:spPr>
          <a:xfrm>
            <a:off x="8880034" y="10298225"/>
            <a:ext cx="2344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Югорск, 2026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8C1926B-E609-AA4D-1413-7FF0136FC849}"/>
              </a:ext>
            </a:extLst>
          </p:cNvPr>
          <p:cNvSpPr txBox="1"/>
          <p:nvPr/>
        </p:nvSpPr>
        <p:spPr>
          <a:xfrm>
            <a:off x="12232104" y="7772420"/>
            <a:ext cx="73442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ИСиП-22-4</a:t>
            </a:r>
          </a:p>
          <a:p>
            <a:pPr algn="r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Макарова Елизавета Геннадьевна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Жук Александр Александрович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918B16-73DE-75DB-19FC-1DBE57603EA7}"/>
              </a:ext>
            </a:extLst>
          </p:cNvPr>
          <p:cNvSpPr txBox="1"/>
          <p:nvPr/>
        </p:nvSpPr>
        <p:spPr>
          <a:xfrm>
            <a:off x="6245720" y="974675"/>
            <a:ext cx="76126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ПРОБЛЕМА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7FECC-78C5-8F87-9EFE-0783ACE92456}"/>
              </a:ext>
            </a:extLst>
          </p:cNvPr>
          <p:cNvSpPr txBox="1"/>
          <p:nvPr/>
        </p:nvSpPr>
        <p:spPr>
          <a:xfrm>
            <a:off x="2010844" y="3287520"/>
            <a:ext cx="16082412" cy="506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3600"/>
              </a:spcAft>
              <a:buClr>
                <a:srgbClr val="1D8F99"/>
              </a:buClr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Магазин «Орхидея» не имеет собственного сайта, что ограничивает аудиторию, усложняет прием заказов и систематизацию ассортимента. </a:t>
            </a:r>
          </a:p>
          <a:p>
            <a:pPr algn="just">
              <a:lnSpc>
                <a:spcPct val="150000"/>
              </a:lnSpc>
              <a:buClr>
                <a:srgbClr val="1D8F99"/>
              </a:buClr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Создание веб-ресурса для автоматизации продаж и укрепления цифрового бренда.</a:t>
            </a:r>
          </a:p>
        </p:txBody>
      </p:sp>
      <p:pic>
        <p:nvPicPr>
          <p:cNvPr id="7" name="Рисунок 6" descr="Вопросительный знак со сплошной заливкой">
            <a:extLst>
              <a:ext uri="{FF2B5EF4-FFF2-40B4-BE49-F238E27FC236}">
                <a16:creationId xmlns:a16="http://schemas.microsoft.com/office/drawing/2014/main" id="{BBD0BA94-4515-4094-44E3-32F5BF98AD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033" y="2990675"/>
            <a:ext cx="1125588" cy="1125588"/>
          </a:xfrm>
          <a:prstGeom prst="rect">
            <a:avLst/>
          </a:prstGeom>
        </p:spPr>
      </p:pic>
      <p:pic>
        <p:nvPicPr>
          <p:cNvPr id="9" name="Рисунок 8" descr="Флажок со сплошной заливкой">
            <a:extLst>
              <a:ext uri="{FF2B5EF4-FFF2-40B4-BE49-F238E27FC236}">
                <a16:creationId xmlns:a16="http://schemas.microsoft.com/office/drawing/2014/main" id="{22E2D29E-87F3-3E31-4980-D38E13FC42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627" y="64466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2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A75F4-9F0B-AA54-9218-4430B6B4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3CA84-822B-1916-F852-CD319E0D420D}"/>
              </a:ext>
            </a:extLst>
          </p:cNvPr>
          <p:cNvSpPr txBox="1"/>
          <p:nvPr/>
        </p:nvSpPr>
        <p:spPr>
          <a:xfrm>
            <a:off x="6764772" y="974675"/>
            <a:ext cx="65745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ACD881-3E3D-5716-B7A6-76667AB4A5B6}"/>
              </a:ext>
            </a:extLst>
          </p:cNvPr>
          <p:cNvSpPr txBox="1"/>
          <p:nvPr/>
        </p:nvSpPr>
        <p:spPr>
          <a:xfrm>
            <a:off x="1592050" y="2918675"/>
            <a:ext cx="16920000" cy="5521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150000"/>
              </a:lnSpc>
              <a:buClr>
                <a:srgbClr val="1D8F99"/>
              </a:buClr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 и существующих решений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Обосновать выбор стека технологий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разработать информационную систему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разработанный продукт</a:t>
            </a:r>
          </a:p>
          <a:p>
            <a:pPr indent="450000" algn="just">
              <a:lnSpc>
                <a:spcPct val="150000"/>
              </a:lnSpc>
              <a:buClr>
                <a:srgbClr val="1D8F99"/>
              </a:buClr>
              <a:buFont typeface="Arial" panose="020B0604020202020204" pitchFamily="34" charset="0"/>
              <a:buChar char="•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комплект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165683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1D22-5934-DDE0-D201-0E62C4306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A4726F-B9EF-E3D1-CA33-66B16605911A}"/>
              </a:ext>
            </a:extLst>
          </p:cNvPr>
          <p:cNvSpPr txBox="1"/>
          <p:nvPr/>
        </p:nvSpPr>
        <p:spPr>
          <a:xfrm>
            <a:off x="5151830" y="974675"/>
            <a:ext cx="98004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РЕСУРСОВ</a:t>
            </a: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D2943C7F-F49E-0CF8-9AC7-D063602D2542}"/>
              </a:ext>
            </a:extLst>
          </p:cNvPr>
          <p:cNvGrpSpPr/>
          <p:nvPr/>
        </p:nvGrpSpPr>
        <p:grpSpPr>
          <a:xfrm>
            <a:off x="1556048" y="2702675"/>
            <a:ext cx="16992004" cy="6408000"/>
            <a:chOff x="1376048" y="2702675"/>
            <a:chExt cx="16992004" cy="589048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731959-BA5E-E39E-51F0-31D8EFB72BCB}"/>
                </a:ext>
              </a:extLst>
            </p:cNvPr>
            <p:cNvSpPr txBox="1"/>
            <p:nvPr/>
          </p:nvSpPr>
          <p:spPr>
            <a:xfrm>
              <a:off x="2924050" y="2702675"/>
              <a:ext cx="14256000" cy="9050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450000"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Положительные практики, характерные в предметной области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1AD2DDF-2613-A15B-1815-86D74605BA68}"/>
                </a:ext>
              </a:extLst>
            </p:cNvPr>
            <p:cNvSpPr txBox="1"/>
            <p:nvPr/>
          </p:nvSpPr>
          <p:spPr>
            <a:xfrm>
              <a:off x="12968054" y="5844613"/>
              <a:ext cx="5399998" cy="18283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buClr>
                  <a:srgbClr val="1D8F99"/>
                </a:buClr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Реализация пошагового оформления заказа</a:t>
              </a:r>
            </a:p>
          </p:txBody>
        </p:sp>
        <p:cxnSp>
          <p:nvCxnSpPr>
            <p:cNvPr id="11" name="Прямая со стрелкой 10">
              <a:extLst>
                <a:ext uri="{FF2B5EF4-FFF2-40B4-BE49-F238E27FC236}">
                  <a16:creationId xmlns:a16="http://schemas.microsoft.com/office/drawing/2014/main" id="{CDA8997A-0A66-0B36-DC90-D220C94EE7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6049" y="3913872"/>
              <a:ext cx="1224000" cy="1740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D68F3D-6845-CF62-AD60-739DFB80C312}"/>
                </a:ext>
              </a:extLst>
            </p:cNvPr>
            <p:cNvSpPr txBox="1"/>
            <p:nvPr/>
          </p:nvSpPr>
          <p:spPr>
            <a:xfrm>
              <a:off x="1376048" y="5838650"/>
              <a:ext cx="6120000" cy="1840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Использование простого и понятного дизайна</a:t>
              </a:r>
              <a:endParaRPr lang="ru-RU" sz="4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FCD5920-DDDA-E488-AE68-0336542ACB4D}"/>
                </a:ext>
              </a:extLst>
            </p:cNvPr>
            <p:cNvSpPr txBox="1"/>
            <p:nvPr/>
          </p:nvSpPr>
          <p:spPr>
            <a:xfrm>
              <a:off x="7826508" y="6752843"/>
              <a:ext cx="4451083" cy="1840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ru-RU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Наличие удобной структуры каталога</a:t>
              </a:r>
              <a:endParaRPr lang="ru-RU" sz="4000" dirty="0"/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ADEF6297-636A-E153-E706-3CC3EFF65BFE}"/>
                </a:ext>
              </a:extLst>
            </p:cNvPr>
            <p:cNvCxnSpPr>
              <a:cxnSpLocks/>
            </p:cNvCxnSpPr>
            <p:nvPr/>
          </p:nvCxnSpPr>
          <p:spPr>
            <a:xfrm>
              <a:off x="14444053" y="3922946"/>
              <a:ext cx="1224000" cy="1740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>
              <a:extLst>
                <a:ext uri="{FF2B5EF4-FFF2-40B4-BE49-F238E27FC236}">
                  <a16:creationId xmlns:a16="http://schemas.microsoft.com/office/drawing/2014/main" id="{16F1E621-8292-CE75-211F-D79C82FC3209}"/>
                </a:ext>
              </a:extLst>
            </p:cNvPr>
            <p:cNvCxnSpPr>
              <a:cxnSpLocks/>
            </p:cNvCxnSpPr>
            <p:nvPr/>
          </p:nvCxnSpPr>
          <p:spPr>
            <a:xfrm>
              <a:off x="10052049" y="3913872"/>
              <a:ext cx="0" cy="2676803"/>
            </a:xfrm>
            <a:prstGeom prst="straightConnector1">
              <a:avLst/>
            </a:prstGeom>
            <a:ln w="76200">
              <a:solidFill>
                <a:srgbClr val="1D8F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7913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D606-70BA-8209-69AA-C3EC3086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EDF981-4149-150B-4A2F-E4AC8C67F4E8}"/>
              </a:ext>
            </a:extLst>
          </p:cNvPr>
          <p:cNvSpPr txBox="1"/>
          <p:nvPr/>
        </p:nvSpPr>
        <p:spPr>
          <a:xfrm>
            <a:off x="5828650" y="974675"/>
            <a:ext cx="84468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ВЫБРАННЫЙ СТЕК ТЕХНОЛОГИЙ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C128820-992F-7A34-7A89-5739F80E2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349" y="2963800"/>
            <a:ext cx="3938701" cy="270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9C33E37-1491-D41C-ECB0-A4F2DC296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6050" y="2747138"/>
            <a:ext cx="4284201" cy="291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521287B9-4C92-E965-C209-D17990D59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050" y="7158116"/>
            <a:ext cx="3227279" cy="3227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00BEF396-A848-0AD5-BB99-DA9B01B5FB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4121" y="7037911"/>
            <a:ext cx="2713636" cy="347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4AE99EC-CAD9-D583-C9BF-6EBABFEBB3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4" t="6564" r="9744" b="7368"/>
          <a:stretch/>
        </p:blipFill>
        <p:spPr bwMode="auto">
          <a:xfrm>
            <a:off x="14790550" y="7094675"/>
            <a:ext cx="3109500" cy="3363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5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A16F7-57C2-3144-B507-CDBA8A2C3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4AAFB-DDD6-4D63-90F9-BF2FE2CE7B09}"/>
              </a:ext>
            </a:extLst>
          </p:cNvPr>
          <p:cNvSpPr txBox="1"/>
          <p:nvPr/>
        </p:nvSpPr>
        <p:spPr>
          <a:xfrm>
            <a:off x="5695505" y="974675"/>
            <a:ext cx="87130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AE217D9-3C80-C09E-1506-19E978CB1F9C}"/>
              </a:ext>
            </a:extLst>
          </p:cNvPr>
          <p:cNvGrpSpPr/>
          <p:nvPr/>
        </p:nvGrpSpPr>
        <p:grpSpPr>
          <a:xfrm>
            <a:off x="1975283" y="2270675"/>
            <a:ext cx="16153535" cy="8434497"/>
            <a:chOff x="1461430" y="2081617"/>
            <a:chExt cx="16153535" cy="8434497"/>
          </a:xfrm>
        </p:grpSpPr>
        <p:pic>
          <p:nvPicPr>
            <p:cNvPr id="2050" name="Picture 2" descr="Picture background">
              <a:extLst>
                <a:ext uri="{FF2B5EF4-FFF2-40B4-BE49-F238E27FC236}">
                  <a16:creationId xmlns:a16="http://schemas.microsoft.com/office/drawing/2014/main" id="{57D08664-3A68-A208-E325-C3BCCE5C53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>
                          <a14:foregroundMark x1="34477" y1="35458" x2="41013" y2="52614"/>
                          <a14:foregroundMark x1="41013" y1="52614" x2="64052" y2="44118"/>
                          <a14:foregroundMark x1="64052" y1="44118" x2="68954" y2="29902"/>
                          <a14:foregroundMark x1="32680" y1="27451" x2="52288" y2="27451"/>
                          <a14:foregroundMark x1="52288" y1="27451" x2="67320" y2="46242"/>
                          <a14:foregroundMark x1="67320" y1="46242" x2="47549" y2="65196"/>
                          <a14:foregroundMark x1="47549" y1="65196" x2="34477" y2="48529"/>
                          <a14:foregroundMark x1="34477" y1="48529" x2="36438" y2="38072"/>
                          <a14:foregroundMark x1="58241" y1="24842" x2="76144" y2="31863"/>
                          <a14:foregroundMark x1="76144" y1="31863" x2="77367" y2="42422"/>
                          <a14:foregroundMark x1="77367" y1="59688" x2="63399" y2="67320"/>
                          <a14:foregroundMark x1="63399" y1="67320" x2="42874" y2="68142"/>
                          <a14:foregroundMark x1="38189" y1="68003" x2="23529" y2="61765"/>
                          <a14:foregroundMark x1="23529" y1="61765" x2="23039" y2="40033"/>
                          <a14:foregroundMark x1="23039" y1="40033" x2="33293" y2="24199"/>
                          <a14:foregroundMark x1="75152" y1="21734" x2="77367" y2="25751"/>
                          <a14:foregroundMark x1="78735" y1="63399" x2="77124" y2="66340"/>
                          <a14:foregroundMark x1="39562" y1="66691" x2="24673" y2="66830"/>
                          <a14:foregroundMark x1="77124" y1="66340" x2="44240" y2="66647"/>
                          <a14:foregroundMark x1="24673" y1="66830" x2="20588" y2="39542"/>
                          <a14:foregroundMark x1="20588" y1="39542" x2="23149" y2="24480"/>
                          <a14:foregroundMark x1="26238" y1="22961" x2="32609" y2="22425"/>
                          <a14:foregroundMark x1="26797" y1="34314" x2="28922" y2="53595"/>
                          <a14:foregroundMark x1="28922" y1="53595" x2="37745" y2="41830"/>
                          <a14:foregroundMark x1="37745" y1="41830" x2="45588" y2="49346"/>
                          <a14:foregroundMark x1="45588" y1="49346" x2="53758" y2="43791"/>
                          <a14:foregroundMark x1="53758" y1="43791" x2="67157" y2="58987"/>
                          <a14:foregroundMark x1="67157" y1="58987" x2="73203" y2="41993"/>
                          <a14:foregroundMark x1="35131" y1="30556" x2="41176" y2="42974"/>
                          <a14:foregroundMark x1="41176" y1="42974" x2="44935" y2="33333"/>
                          <a14:foregroundMark x1="44935" y1="33333" x2="44118" y2="30556"/>
                          <a14:foregroundMark x1="51797" y1="30556" x2="44281" y2="42484"/>
                          <a14:foregroundMark x1="44281" y1="42484" x2="46895" y2="28105"/>
                          <a14:foregroundMark x1="25490" y1="59314" x2="49673" y2="63725"/>
                          <a14:foregroundMark x1="73856" y1="42974" x2="80065" y2="68301"/>
                          <a14:foregroundMark x1="36111" y1="67974" x2="42647" y2="67974"/>
                          <a14:foregroundMark x1="79085" y1="33333" x2="79412" y2="42974"/>
                          <a14:backgroundMark x1="36765" y1="19118" x2="54412" y2="21895"/>
                          <a14:backgroundMark x1="55229" y1="21569" x2="68627" y2="19118"/>
                          <a14:backgroundMark x1="51307" y1="22876" x2="81536" y2="17320"/>
                          <a14:backgroundMark x1="81536" y1="17320" x2="82843" y2="17320"/>
                          <a14:backgroundMark x1="40359" y1="16340" x2="23529" y2="17484"/>
                          <a14:backgroundMark x1="23529" y1="17484" x2="21569" y2="24020"/>
                          <a14:backgroundMark x1="34150" y1="20425" x2="38235" y2="21569"/>
                          <a14:backgroundMark x1="56863" y1="21242" x2="54085" y2="18137"/>
                          <a14:backgroundMark x1="84314" y1="35458" x2="84314" y2="56536"/>
                          <a14:backgroundMark x1="83473" y1="39723" x2="85294" y2="43301"/>
                          <a14:backgroundMark x1="80725" y1="33278" x2="83170" y2="21569"/>
                          <a14:backgroundMark x1="81863" y1="29085" x2="81209" y2="22876"/>
                          <a14:backgroundMark x1="81536" y1="55882" x2="81536" y2="56794"/>
                          <a14:backgroundMark x1="82190" y1="31209" x2="84967" y2="16993"/>
                          <a14:backgroundMark x1="81209" y1="26797" x2="81209" y2="33261"/>
                          <a14:backgroundMark x1="81325" y1="33257" x2="81536" y2="24183"/>
                          <a14:backgroundMark x1="81536" y1="42902" x2="81536" y2="56794"/>
                          <a14:backgroundMark x1="81536" y1="24183" x2="81536" y2="33250"/>
                          <a14:backgroundMark x1="50980" y1="15359" x2="60948" y2="18627"/>
                          <a14:backgroundMark x1="60948" y1="18627" x2="53105" y2="19444"/>
                        </a14:backgroundRemoval>
                      </a14:imgEffect>
                      <a14:imgEffect>
                        <a14:sharpenSoften amount="50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4" t="4631" r="10362" b="15345"/>
            <a:stretch/>
          </p:blipFill>
          <p:spPr bwMode="auto">
            <a:xfrm>
              <a:off x="1461430" y="2081617"/>
              <a:ext cx="4437951" cy="4437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Picture background">
              <a:extLst>
                <a:ext uri="{FF2B5EF4-FFF2-40B4-BE49-F238E27FC236}">
                  <a16:creationId xmlns:a16="http://schemas.microsoft.com/office/drawing/2014/main" id="{CF75EE92-A648-0B4C-9C07-1D1DEA0E4A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0984" y="6519568"/>
              <a:ext cx="3996546" cy="3996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Picture background">
              <a:extLst>
                <a:ext uri="{FF2B5EF4-FFF2-40B4-BE49-F238E27FC236}">
                  <a16:creationId xmlns:a16="http://schemas.microsoft.com/office/drawing/2014/main" id="{12A4F1E9-7995-CC26-6582-432298AA5E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36984" y1="25441" x2="37595" y2="24330"/>
                          <a14:foregroundMark x1="31200" y1="35954" x2="35261" y2="28573"/>
                          <a14:foregroundMark x1="43126" y1="18499" x2="46961" y2="17857"/>
                          <a14:foregroundMark x1="54903" y1="26657" x2="55167" y2="27141"/>
                          <a14:foregroundMark x1="51580" y1="20573" x2="52204" y2="21715"/>
                          <a14:foregroundMark x1="55167" y1="27141" x2="57467" y2="36104"/>
                          <a14:foregroundMark x1="44433" y1="27641" x2="46367" y2="22233"/>
                          <a14:foregroundMark x1="65767" y1="61542" x2="58933" y2="70656"/>
                          <a14:foregroundMark x1="58933" y1="70656" x2="66433" y2="75964"/>
                          <a14:foregroundMark x1="66433" y1="75964" x2="68433" y2="66450"/>
                          <a14:foregroundMark x1="37867" y1="26540" x2="41267" y2="21632"/>
                          <a14:foregroundMark x1="39600" y1="22384" x2="37667" y2="28843"/>
                          <a14:foregroundMark x1="38267" y1="24236" x2="39200" y2="28393"/>
                          <a14:foregroundMark x1="38367" y1="27141" x2="39300" y2="22083"/>
                          <a14:foregroundMark x1="40333" y1="21632" x2="37567" y2="27942"/>
                          <a14:foregroundMark x1="39500" y1="23485" x2="36633" y2="28092"/>
                          <a14:foregroundMark x1="41133" y1="20080" x2="36033" y2="26540"/>
                          <a14:foregroundMark x1="39600" y1="20981" x2="39000" y2="21482"/>
                          <a14:foregroundMark x1="39800" y1="21783" x2="39600" y2="22384"/>
                          <a14:foregroundMark x1="40033" y1="23135" x2="38800" y2="22684"/>
                          <a14:foregroundMark x1="38900" y1="22834" x2="39933" y2="20080"/>
                          <a14:foregroundMark x1="41267" y1="21132" x2="39800" y2="23335"/>
                          <a14:backgroundMark x1="40269" y1="18799" x2="45133" y2="16675"/>
                          <a14:backgroundMark x1="38367" y1="19629" x2="40257" y2="18804"/>
                          <a14:backgroundMark x1="46700" y1="16224" x2="51700" y2="20381"/>
                          <a14:backgroundMark x1="51700" y1="20381" x2="55300" y2="25638"/>
                          <a14:backgroundMark x1="52933" y1="22233" x2="53867" y2="29344"/>
                          <a14:backgroundMark x1="51900" y1="22083" x2="55000" y2="26540"/>
                          <a14:backgroundMark x1="37002" y1="28509" x2="36633" y2="29494"/>
                          <a14:backgroundMark x1="36633" y1="29494" x2="36633" y2="29494"/>
                          <a14:backgroundMark x1="35933" y1="27359" x2="35800" y2="28693"/>
                          <a14:backgroundMark x1="36017" y1="26517" x2="35938" y2="27307"/>
                          <a14:backgroundMark x1="36333" y1="23335" x2="36199" y2="246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65" t="6542" r="22579" b="6542"/>
            <a:stretch/>
          </p:blipFill>
          <p:spPr bwMode="auto">
            <a:xfrm>
              <a:off x="13699132" y="2342675"/>
              <a:ext cx="3915833" cy="3915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08673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6891-E5AB-0325-4152-697D1467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0C081-0AD9-61DF-F9AC-090D0C40DB47}"/>
              </a:ext>
            </a:extLst>
          </p:cNvPr>
          <p:cNvSpPr txBox="1"/>
          <p:nvPr/>
        </p:nvSpPr>
        <p:spPr>
          <a:xfrm>
            <a:off x="4997173" y="974675"/>
            <a:ext cx="101097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МОДЕЛИРОВАНИЕ БИЗНЕС-ПРОЦЕССОВ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CD7A233-0CD6-FFF8-8E90-F1EA4C87B955}"/>
              </a:ext>
            </a:extLst>
          </p:cNvPr>
          <p:cNvGrpSpPr/>
          <p:nvPr/>
        </p:nvGrpSpPr>
        <p:grpSpPr>
          <a:xfrm>
            <a:off x="300334" y="2090674"/>
            <a:ext cx="19503433" cy="8737725"/>
            <a:chOff x="300334" y="2090674"/>
            <a:chExt cx="19503433" cy="8737725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8D2BE020-EE75-1D33-490E-21041FC6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334" y="2414674"/>
              <a:ext cx="10136508" cy="8089725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DE4BFE59-E009-4F41-09D0-DE94681A1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26649" y="2090674"/>
              <a:ext cx="9277118" cy="873772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12257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F29A-03B7-8E1C-B3BB-8C7F80D2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DF9FE-0D33-DE9A-7CC6-AC16A8A230AD}"/>
              </a:ext>
            </a:extLst>
          </p:cNvPr>
          <p:cNvSpPr txBox="1"/>
          <p:nvPr/>
        </p:nvSpPr>
        <p:spPr>
          <a:xfrm>
            <a:off x="5636001" y="974675"/>
            <a:ext cx="88320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F87F3046-5A70-D156-BFB4-CB7093BE9A24}"/>
              </a:ext>
            </a:extLst>
          </p:cNvPr>
          <p:cNvGrpSpPr/>
          <p:nvPr/>
        </p:nvGrpSpPr>
        <p:grpSpPr>
          <a:xfrm>
            <a:off x="1409287" y="2946709"/>
            <a:ext cx="17285525" cy="6785321"/>
            <a:chOff x="980049" y="3494674"/>
            <a:chExt cx="16356196" cy="6420519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5AA8429-DD51-E2A2-70F7-E07D07A46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29" r="9154" b="3313"/>
            <a:stretch/>
          </p:blipFill>
          <p:spPr bwMode="auto">
            <a:xfrm>
              <a:off x="13586535" y="4977222"/>
              <a:ext cx="3749710" cy="3455421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C560439D-008D-375D-CE91-57586B062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71" b="98294" l="2366" r="96452">
                          <a14:foregroundMark x1="80129" y1="92269" x2="80108" y2="98294"/>
                          <a14:foregroundMark x1="80269" y1="51804" x2="80154" y2="84875"/>
                          <a14:foregroundMark x1="80277" y1="49423" x2="80275" y2="49979"/>
                          <a14:foregroundMark x1="2366" y1="3072" x2="5806" y2="60580"/>
                          <a14:foregroundMark x1="5806" y1="60580" x2="5806" y2="60580"/>
                          <a14:foregroundMark x1="3226" y1="30034" x2="3226" y2="70478"/>
                          <a14:foregroundMark x1="11720" y1="50171" x2="11828" y2="95563"/>
                          <a14:foregroundMark x1="2366" y1="4437" x2="20430" y2="16724"/>
                          <a14:foregroundMark x1="84689" y1="48871" x2="84908" y2="84768"/>
                          <a14:foregroundMark x1="84409" y1="3072" x2="84429" y2="6438"/>
                          <a14:foregroundMark x1="89247" y1="68259" x2="93118" y2="71672"/>
                          <a14:foregroundMark x1="84516" y1="61433" x2="89462" y2="66894"/>
                          <a14:foregroundMark x1="89462" y1="66894" x2="94946" y2="77645"/>
                          <a14:foregroundMark x1="94946" y1="77645" x2="83441" y2="73891"/>
                          <a14:foregroundMark x1="87634" y1="62287" x2="89355" y2="59215"/>
                          <a14:foregroundMark x1="89785" y1="57167" x2="93978" y2="65700"/>
                          <a14:foregroundMark x1="90645" y1="58874" x2="95484" y2="62287"/>
                          <a14:foregroundMark x1="95484" y1="62287" x2="95484" y2="62287"/>
                          <a14:foregroundMark x1="39677" y1="8703" x2="34516" y2="18089"/>
                          <a14:foregroundMark x1="21183" y1="21502" x2="23333" y2="28498"/>
                          <a14:foregroundMark x1="23011" y1="64676" x2="21505" y2="64334"/>
                          <a14:foregroundMark x1="21505" y1="64676" x2="21828" y2="74403"/>
                          <a14:foregroundMark x1="21828" y1="74403" x2="21828" y2="72014"/>
                          <a14:foregroundMark x1="23118" y1="15529" x2="23441" y2="29352"/>
                          <a14:foregroundMark x1="25269" y1="171" x2="75002" y2="11761"/>
                          <a14:foregroundMark x1="75255" y1="5309" x2="62796" y2="5461"/>
                          <a14:foregroundMark x1="73165" y1="1932" x2="70860" y2="171"/>
                          <a14:foregroundMark x1="42688" y1="33106" x2="51720" y2="40444"/>
                          <a14:foregroundMark x1="51720" y1="40444" x2="54409" y2="59727"/>
                          <a14:foregroundMark x1="54409" y1="59727" x2="50430" y2="65017"/>
                          <a14:foregroundMark x1="59677" y1="44198" x2="58065" y2="65017"/>
                          <a14:foregroundMark x1="52366" y1="71672" x2="80108" y2="64334"/>
                          <a14:foregroundMark x1="80108" y1="64334" x2="81935" y2="64334"/>
                          <a14:foregroundMark x1="80860" y1="70137" x2="51935" y2="76280"/>
                          <a14:foregroundMark x1="51935" y1="76280" x2="49140" y2="76280"/>
                          <a14:foregroundMark x1="66989" y1="71843" x2="80000" y2="75085"/>
                          <a14:foregroundMark x1="48710" y1="71160" x2="44409" y2="76280"/>
                          <a14:foregroundMark x1="44409" y1="76280" x2="48925" y2="75597"/>
                          <a14:foregroundMark x1="48172" y1="75256" x2="40860" y2="70990"/>
                          <a14:foregroundMark x1="40860" y1="70990" x2="42258" y2="64334"/>
                          <a14:foregroundMark x1="41075" y1="66724" x2="40323" y2="75427"/>
                          <a14:foregroundMark x1="40323" y1="75427" x2="37527" y2="68942"/>
                          <a14:foregroundMark x1="74194" y1="2901" x2="73011" y2="52901"/>
                          <a14:foregroundMark x1="74731" y1="19113" x2="71505" y2="73038"/>
                          <a14:foregroundMark x1="72473" y1="32935" x2="72903" y2="61433"/>
                          <a14:foregroundMark x1="73226" y1="36519" x2="74086" y2="55631"/>
                          <a14:foregroundMark x1="74086" y1="34812" x2="73763" y2="47611"/>
                          <a14:foregroundMark x1="95914" y1="62116" x2="95591" y2="75085"/>
                          <a14:foregroundMark x1="90538" y1="61604" x2="96129" y2="60068"/>
                          <a14:foregroundMark x1="96129" y1="60068" x2="96452" y2="59898"/>
                          <a14:foregroundMark x1="92151" y1="59898" x2="94194" y2="59727"/>
                          <a14:foregroundMark x1="96022" y1="61775" x2="96022" y2="76792"/>
                          <a14:backgroundMark x1="78925" y1="2730" x2="86559" y2="46416"/>
                          <a14:backgroundMark x1="86559" y1="46416" x2="92151" y2="47611"/>
                          <a14:backgroundMark x1="86237" y1="12116" x2="82473" y2="4266"/>
                          <a14:backgroundMark x1="82473" y1="4266" x2="81828" y2="1024"/>
                          <a14:backgroundMark x1="76806" y1="8534" x2="80215" y2="13481"/>
                          <a14:backgroundMark x1="72688" y1="2560" x2="72869" y2="2822"/>
                          <a14:backgroundMark x1="80215" y1="13481" x2="78817" y2="25939"/>
                          <a14:backgroundMark x1="78817" y1="25939" x2="82043" y2="48805"/>
                          <a14:backgroundMark x1="82043" y1="48805" x2="82473" y2="50341"/>
                          <a14:backgroundMark x1="76850" y1="6669" x2="84301" y2="14505"/>
                          <a14:backgroundMark x1="84301" y1="14505" x2="85806" y2="12457"/>
                          <a14:backgroundMark x1="85806" y1="9386" x2="86129" y2="25427"/>
                          <a14:backgroundMark x1="95484" y1="88225" x2="57742" y2="8907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15" r="3040" b="7260"/>
            <a:stretch/>
          </p:blipFill>
          <p:spPr>
            <a:xfrm>
              <a:off x="980049" y="3494674"/>
              <a:ext cx="11159472" cy="6420519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50624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8292-1CB4-4A57-76D0-CB1C25DEA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37D56-FF5D-D411-FFF8-F7C0D446E80F}"/>
              </a:ext>
            </a:extLst>
          </p:cNvPr>
          <p:cNvSpPr txBox="1"/>
          <p:nvPr/>
        </p:nvSpPr>
        <p:spPr>
          <a:xfrm>
            <a:off x="5723814" y="974675"/>
            <a:ext cx="86564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ПОЛЬЗОВАТЕЛЬСКИЙ ИНТЕРФЕЙС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9F0F1EF-CCD7-A611-E6C8-694B01EC62DE}"/>
              </a:ext>
            </a:extLst>
          </p:cNvPr>
          <p:cNvGrpSpPr/>
          <p:nvPr/>
        </p:nvGrpSpPr>
        <p:grpSpPr>
          <a:xfrm>
            <a:off x="65866" y="2598106"/>
            <a:ext cx="19972368" cy="7345864"/>
            <a:chOff x="131732" y="2384932"/>
            <a:chExt cx="19972368" cy="7345864"/>
          </a:xfrm>
        </p:grpSpPr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4F61B917-1C06-E36E-1D62-A6B25B07C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74" t="3883" r="3427"/>
            <a:stretch/>
          </p:blipFill>
          <p:spPr>
            <a:xfrm>
              <a:off x="131732" y="2421984"/>
              <a:ext cx="11648318" cy="73034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AA1EC08F-24D7-9DA8-2C87-FA81DEAE7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418" t="347"/>
            <a:stretch/>
          </p:blipFill>
          <p:spPr>
            <a:xfrm>
              <a:off x="11780050" y="2416623"/>
              <a:ext cx="3850265" cy="73141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8FBB07F6-5A8E-2FCB-650E-67BFE45242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0" r="810"/>
            <a:stretch/>
          </p:blipFill>
          <p:spPr bwMode="auto">
            <a:xfrm>
              <a:off x="15630315" y="2384932"/>
              <a:ext cx="4473785" cy="7345864"/>
            </a:xfrm>
            <a:prstGeom prst="rect">
              <a:avLst/>
            </a:prstGeom>
            <a:ln w="9525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0">
                    <a:custGeom>
                      <a:avLst/>
                      <a:gdLst/>
                      <a:ahLst/>
                      <a:cxnLst/>
                      <a:rect l="0" t="0" r="0" b="0"/>
                      <a:pathLst/>
                    </a:custGeom>
                    <ask:type/>
                  </ask:lineSketchStyleProps>
                </a:ext>
              </a:extLst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3413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C4D5-149B-1C4D-4886-CFCC8AE6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6C5832-5CB5-A909-8FAB-BB29D25B460F}"/>
              </a:ext>
            </a:extLst>
          </p:cNvPr>
          <p:cNvSpPr txBox="1"/>
          <p:nvPr/>
        </p:nvSpPr>
        <p:spPr>
          <a:xfrm>
            <a:off x="5983179" y="974675"/>
            <a:ext cx="81377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АДМИНИСТРАТОРА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B6DA21B7-1691-C553-C771-AEFB828E4264}"/>
              </a:ext>
            </a:extLst>
          </p:cNvPr>
          <p:cNvGrpSpPr/>
          <p:nvPr/>
        </p:nvGrpSpPr>
        <p:grpSpPr>
          <a:xfrm>
            <a:off x="0" y="2198675"/>
            <a:ext cx="20088001" cy="7988276"/>
            <a:chOff x="8049" y="2156269"/>
            <a:chExt cx="20088001" cy="7988276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E7B96EFD-CBF4-2C1B-3ABD-8FBE8AB8A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97" t="6062" r="1345" b="9093"/>
            <a:stretch/>
          </p:blipFill>
          <p:spPr>
            <a:xfrm>
              <a:off x="3929840" y="2156269"/>
              <a:ext cx="12244420" cy="349840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1891E3CD-1268-7F76-EC5A-32916554311A}"/>
                </a:ext>
              </a:extLst>
            </p:cNvPr>
            <p:cNvGrpSpPr/>
            <p:nvPr/>
          </p:nvGrpSpPr>
          <p:grpSpPr>
            <a:xfrm>
              <a:off x="8049" y="5654675"/>
              <a:ext cx="20088001" cy="4489870"/>
              <a:chOff x="5366" y="5958603"/>
              <a:chExt cx="20088001" cy="4489870"/>
            </a:xfrm>
          </p:grpSpPr>
          <p:pic>
            <p:nvPicPr>
              <p:cNvPr id="5" name="Рисунок 4">
                <a:extLst>
                  <a:ext uri="{FF2B5EF4-FFF2-40B4-BE49-F238E27FC236}">
                    <a16:creationId xmlns:a16="http://schemas.microsoft.com/office/drawing/2014/main" id="{7785FBF9-69F7-A5E9-6421-82B7F6637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24" b="324"/>
              <a:stretch/>
            </p:blipFill>
            <p:spPr>
              <a:xfrm>
                <a:off x="9797367" y="5958603"/>
                <a:ext cx="10296000" cy="394886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" name="Рисунок 5">
                <a:extLst>
                  <a:ext uri="{FF2B5EF4-FFF2-40B4-BE49-F238E27FC236}">
                    <a16:creationId xmlns:a16="http://schemas.microsoft.com/office/drawing/2014/main" id="{43E9EC28-9099-E932-6CCC-C03677BDB6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166" r="442"/>
              <a:stretch/>
            </p:blipFill>
            <p:spPr>
              <a:xfrm>
                <a:off x="5366" y="5958603"/>
                <a:ext cx="9792001" cy="448987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16367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7FD80-EC3B-37F3-C612-7CF8C286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852656-CB08-3705-6E1C-A0B77EE424BD}"/>
              </a:ext>
            </a:extLst>
          </p:cNvPr>
          <p:cNvSpPr txBox="1"/>
          <p:nvPr/>
        </p:nvSpPr>
        <p:spPr>
          <a:xfrm>
            <a:off x="5667164" y="974675"/>
            <a:ext cx="87697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ЭКОНОМИЧЕСКОЕ ОБОСНОВАНИЕ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ABF844D7-3676-C14A-7C9C-C3DA5B642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308742"/>
              </p:ext>
            </p:extLst>
          </p:nvPr>
        </p:nvGraphicFramePr>
        <p:xfrm>
          <a:off x="260050" y="2335519"/>
          <a:ext cx="19584000" cy="7999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6014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0677-1A82-C22B-1322-C5F41D08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A74B9-3ED3-944A-1197-FB2AB8CCCF76}"/>
              </a:ext>
            </a:extLst>
          </p:cNvPr>
          <p:cNvSpPr txBox="1"/>
          <p:nvPr/>
        </p:nvSpPr>
        <p:spPr>
          <a:xfrm>
            <a:off x="8198177" y="974675"/>
            <a:ext cx="37077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996FC9-6CC4-D7ED-2E64-AF3F647F1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569" y="3665082"/>
            <a:ext cx="7622962" cy="397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68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BE2001-DA7E-33DC-4042-2A45255FC3E0}"/>
              </a:ext>
            </a:extLst>
          </p:cNvPr>
          <p:cNvSpPr txBox="1"/>
          <p:nvPr/>
        </p:nvSpPr>
        <p:spPr>
          <a:xfrm>
            <a:off x="5606346" y="5193010"/>
            <a:ext cx="8891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76213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</TotalTime>
  <Words>168</Words>
  <Application>Microsoft Office PowerPoint</Application>
  <PresentationFormat>Произвольный</PresentationFormat>
  <Paragraphs>31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ПодмогаеваГВ</dc:creator>
  <cp:lastModifiedBy>mlzw mlzw</cp:lastModifiedBy>
  <cp:revision>15</cp:revision>
  <dcterms:created xsi:type="dcterms:W3CDTF">2022-09-16T07:40:25Z</dcterms:created>
  <dcterms:modified xsi:type="dcterms:W3CDTF">2026-06-16T18:47:27Z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2022-09-16T00:00:00Z</vt:filetime>
  </property>
</Properties>
</file>