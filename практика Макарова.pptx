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12"/>
  </p:notesMasterIdLst>
  <p:sldIdLst>
    <p:sldId id="256" r:id="rId2"/>
    <p:sldId id="258" r:id="rId3"/>
    <p:sldId id="259" r:id="rId4"/>
    <p:sldId id="272" r:id="rId5"/>
    <p:sldId id="275" r:id="rId6"/>
    <p:sldId id="277" r:id="rId7"/>
    <p:sldId id="278" r:id="rId8"/>
    <p:sldId id="279" r:id="rId9"/>
    <p:sldId id="280" r:id="rId10"/>
    <p:sldId id="281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272" autoAdjust="0"/>
    <p:restoredTop sz="78348" autoAdjust="0"/>
  </p:normalViewPr>
  <p:slideViewPr>
    <p:cSldViewPr snapToGrid="0">
      <p:cViewPr>
        <p:scale>
          <a:sx n="60" d="100"/>
          <a:sy n="60" d="100"/>
        </p:scale>
        <p:origin x="708" y="-11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100" d="100"/>
        <a:sy n="100" d="100"/>
      </p:scale>
      <p:origin x="0" y="-10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4B062-2B11-4248-98E2-3DBC15892DEE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D0DB64-6B90-4225-844C-57CC3718F58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93601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61660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Цель практики:</a:t>
            </a:r>
            <a:r>
              <a:rPr lang="ru-RU" b="0" i="0" dirty="0">
                <a:effectLst/>
                <a:latin typeface="YS Text"/>
              </a:rPr>
              <a:t> подготовка к выполнению дипломной работы и освоение общих и профессиональных компетенций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17459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Преддипломная практика проходила на базе Средней общеобразовательной школы №6 г. Югорска. Организация осуществляет деятельность в сфере общего образования. Школа отвечает за реализацию основных общеобразовательных программ, направленное на качественное обучение, всестороннее развитие и социальную адаптацию учащихся. </a:t>
            </a:r>
            <a:endParaRPr lang="ru-RU" sz="18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5976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В качестве индивидуального задания для преддипломной практики была выбрана тема «Разработка 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клиентской части веб-сайта для цветочного магазина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».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Целью задания являлось </a:t>
            </a:r>
            <a:r>
              <a:rPr lang="ru-RU" sz="2800" b="0" i="0" dirty="0">
                <a:solidFill>
                  <a:srgbClr val="F7F8FC"/>
                </a:solidFill>
                <a:effectLst/>
                <a:latin typeface="system-ui"/>
              </a:rPr>
              <a:t>создание современного, производительного и визуально целостного интерфейса сайта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. Задачи представлены на экране.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5110055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574691-EFB5-7EE8-DBC1-D304CE413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F4ED8AF-F723-4E1F-AF83-2D3DA7C045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DB2B8CD-1AA4-6A73-9104-71BBC3A78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b="0" i="0" dirty="0">
                <a:solidFill>
                  <a:srgbClr val="A9AAB8"/>
                </a:solidFill>
                <a:effectLst/>
                <a:latin typeface="+mn-lt"/>
              </a:rPr>
              <a:t>Разработка велась с использованием современного стека технологий. </a:t>
            </a:r>
            <a:r>
              <a:rPr lang="ru-RU" i="0" dirty="0">
                <a:latin typeface="+mn-lt"/>
              </a:rPr>
              <a:t>Структура </a:t>
            </a:r>
            <a:r>
              <a:rPr lang="ru-RU" dirty="0"/>
              <a:t>интерфейса веб-сайта на примере главной страницы состояла из элементов, представленных на экране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2C81E2E-98DB-8831-5FC1-2B81A96F5C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330849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53C8C-71E5-88C7-9BB1-4972C5C42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86A80B4D-B7B7-21FA-E641-A0A7713A7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98EF42D-4821-1F22-B341-E1352CCAAF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Данный слайд демонстрирует шапку интерфейса. Элемент включает в себя логотип, который одновременно является ссылкой на главную страницу</a:t>
            </a:r>
            <a:r>
              <a:rPr lang="ru-RU" b="0" i="1" dirty="0">
                <a:solidFill>
                  <a:srgbClr val="F7F8FC"/>
                </a:solidFill>
                <a:effectLst/>
                <a:latin typeface="system-ui"/>
              </a:rPr>
              <a:t>,</a:t>
            </a:r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 и контактную информацию: адрес магазина и номер телефона.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A8EDD90-4A77-F993-916D-92D5ADD631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7890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D8A17B-6767-2C25-527F-975E6F4CD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5638460-6D19-AAFE-20F7-C1A7CA5E6B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6970271-7910-A436-6136-2D99FB8381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Навигационное меню – обеспечивает быстрый переход между основными разделами сайта. включает четыре пункта. Каждый элемент меню оформлен как ссылка.</a:t>
            </a:r>
            <a:br>
              <a:rPr lang="ru-RU" dirty="0"/>
            </a:b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9C23B4C-C8BE-3B85-BAF2-937D9280E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7122826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954ABA-A856-359C-8AB0-46F08C81B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6EEA92F1-0F13-C300-0FA8-D76B4888FD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CEF27DE-EF6C-BCCE-5408-0C28D956CB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Данный слайд демонстрирует секцию категорий товаров. Каталог представлен в виде адаптивной сетки из четырёх элементов. Каждая </a:t>
            </a:r>
            <a:r>
              <a:rPr lang="ru-RU" b="0" i="0" dirty="0" err="1">
                <a:solidFill>
                  <a:srgbClr val="F7F8FC"/>
                </a:solidFill>
                <a:effectLst/>
                <a:latin typeface="+mn-lt"/>
              </a:rPr>
              <a:t>каиегория</a:t>
            </a:r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 включает визуальный элемент — изображение категории и текстовое описание. Изображения обернуты в ссылки, что позволяет перейти к просмотру товаров конкретной категории.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965EC2E-16FA-AEF0-6FB0-50B79C22AF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2365025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E404D-B680-C2E3-C07D-C97E20545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C53F7931-59BC-63AA-DC8B-A51F0180E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AC93504-2BA7-926E-D37A-DF68B50D58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подвал сайта — завершающий элемент страницы. Блок содержит дублирующую навигацию, которая повторяет пункты основного меню, ссылку на сообщество в социальной сети и кнопку «Наверх», реализованной с помощью JavaScript-события </a:t>
            </a:r>
            <a:r>
              <a:rPr lang="ru-RU" b="0" i="0" dirty="0" err="1">
                <a:solidFill>
                  <a:srgbClr val="F7F8FC"/>
                </a:solidFill>
                <a:effectLst/>
                <a:latin typeface="+mn-lt"/>
              </a:rPr>
              <a:t>onclick</a:t>
            </a:r>
            <a:r>
              <a:rPr lang="ru-RU" b="0" i="0" dirty="0">
                <a:solidFill>
                  <a:srgbClr val="F7F8FC"/>
                </a:solidFill>
                <a:effectLst/>
                <a:latin typeface="+mn-lt"/>
              </a:rPr>
              <a:t>. </a:t>
            </a:r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E20109-5483-4007-7155-0126B6FF22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191473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7EB5-2DA2-FFA9-9C1B-FB8EB18CF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87819AE-BA1F-F539-ACCE-E5144D6039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C3A84782-4FCC-6598-1981-7A67B48303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Практика позволила развить компетенции, необходимые для профессиональной деятельности по специальности, а самостоятельное выполнение работ сформировало полезные навыки и умения для работы на предприятии.</a:t>
            </a:r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001C438-9077-F9F7-D3AA-3A2E3EC5DB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2D0DB64-6B90-4225-844C-57CC3718F58A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3200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33844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9856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38183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503968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202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85244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893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883589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52846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454301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290833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0E9117A-C41E-4579-A031-EC76166658D6}" type="datetimeFigureOut">
              <a:rPr lang="ru-RU" smtClean="0"/>
              <a:t>15.05.2026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085E2F35-EE8F-413E-A962-016872E1637E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82208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131DBA-DB18-1C69-E552-788FAE26D34F}"/>
              </a:ext>
            </a:extLst>
          </p:cNvPr>
          <p:cNvSpPr>
            <a:spLocks/>
          </p:cNvSpPr>
          <p:nvPr/>
        </p:nvSpPr>
        <p:spPr>
          <a:xfrm>
            <a:off x="1524000" y="71386"/>
            <a:ext cx="9144000" cy="142780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b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Департамент образования и науки</a:t>
            </a:r>
            <a:b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Ханты-Мансийского автономного округа </a:t>
            </a: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– </a:t>
            </a: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Югры</a:t>
            </a:r>
            <a:b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kumimoji="0" lang="ru-RU" sz="1500" b="1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БЮДЖЕТНОЕ УЧРЕЖДЕНИЕ</a:t>
            </a:r>
            <a:br>
              <a:rPr kumimoji="0" lang="ru-RU" sz="1500" b="0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ПРОФЕССИОНАЛЬНОГО ОБРАЗОВАНИЯ</a:t>
            </a:r>
            <a:br>
              <a:rPr kumimoji="0" lang="ru-RU" sz="1500" b="0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ХАНТЫ-МАНСИЙСКОГО АВТОНОМНОГО ОКРУГА – ЮГРЫ</a:t>
            </a:r>
            <a:br>
              <a:rPr kumimoji="0" lang="ru-RU" sz="1500" b="0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kumimoji="0" lang="ru-RU" sz="1500" b="1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«</a:t>
            </a:r>
            <a:r>
              <a:rPr kumimoji="0" lang="ru-RU" sz="1500" b="1" i="0" u="none" strike="noStrike" kern="1200" cap="none" spc="30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ЮГОРСКИЙ ПОЛИТЕХНИЧЕСКИЙ КОЛЛЕДЖ</a:t>
            </a:r>
            <a:r>
              <a:rPr kumimoji="0" lang="ru-RU" sz="1500" b="1" i="0" u="none" strike="noStrike" kern="1200" cap="none" spc="-5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»</a:t>
            </a:r>
            <a:endParaRPr kumimoji="0" lang="ru-RU" sz="1500" b="0" i="0" u="none" strike="noStrike" kern="1200" cap="none" spc="-5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j-ea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8D28D4-DB72-CF7B-1444-F9A1DDDBEA6D}"/>
              </a:ext>
            </a:extLst>
          </p:cNvPr>
          <p:cNvSpPr txBox="1"/>
          <p:nvPr/>
        </p:nvSpPr>
        <p:spPr>
          <a:xfrm>
            <a:off x="867967" y="2261887"/>
            <a:ext cx="738553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ru-RU" sz="1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Специальность </a:t>
            </a:r>
            <a:r>
              <a:rPr lang="ru-RU" sz="1500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09.02.07 «Информационные системы и программирование»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2EB700C3-9064-A0FB-E0C8-D1FCDA7F96A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3493247" y="2909102"/>
            <a:ext cx="5205505" cy="960328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000" b="1" spc="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ОТЧЕТ ПО ПРЕДДИПЛОМНОЙ ПРАКТИКЕ</a:t>
            </a:r>
            <a:endParaRPr kumimoji="0" lang="ru-RU" sz="20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BA5B736-0205-0D1A-F892-B7D387FFA5A1}"/>
              </a:ext>
            </a:extLst>
          </p:cNvPr>
          <p:cNvSpPr txBox="1"/>
          <p:nvPr/>
        </p:nvSpPr>
        <p:spPr>
          <a:xfrm>
            <a:off x="6341724" y="4709363"/>
            <a:ext cx="498230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Автор: </a:t>
            </a:r>
            <a:b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Макарова Елизавета Геннадьевна</a:t>
            </a: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Курс: 4</a:t>
            </a:r>
          </a:p>
          <a:p>
            <a:pPr algn="r"/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Группа: ИСиП-22-4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E0BD988-AF56-B658-A425-314A9362E4F9}"/>
              </a:ext>
            </a:extLst>
          </p:cNvPr>
          <p:cNvSpPr txBox="1"/>
          <p:nvPr/>
        </p:nvSpPr>
        <p:spPr>
          <a:xfrm>
            <a:off x="5395546" y="5920499"/>
            <a:ext cx="14009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Югорск, 2026</a:t>
            </a: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4112DC6D-6F87-9AC2-2223-9B4F2BB552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7967" y="4634884"/>
            <a:ext cx="4419141" cy="107601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311A998-CCF3-6CAF-39A3-549E897E07B9}"/>
              </a:ext>
            </a:extLst>
          </p:cNvPr>
          <p:cNvSpPr txBox="1"/>
          <p:nvPr/>
        </p:nvSpPr>
        <p:spPr>
          <a:xfrm>
            <a:off x="3363603" y="1571121"/>
            <a:ext cx="60960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5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(БУ «ЮГОРСКИЙ ПОЛИТЕХНИЧЕСКИЙ КОЛЛЕДЖ»)</a:t>
            </a:r>
          </a:p>
        </p:txBody>
      </p:sp>
      <p:sp>
        <p:nvSpPr>
          <p:cNvPr id="8" name="Подзаголовок 7">
            <a:extLst>
              <a:ext uri="{FF2B5EF4-FFF2-40B4-BE49-F238E27FC236}">
                <a16:creationId xmlns:a16="http://schemas.microsoft.com/office/drawing/2014/main" id="{EC084210-F161-02E4-4EF9-1161AAEE1A7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62714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9F2A5D30-6CF4-52D9-2E69-338111395A64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096962" y="633046"/>
            <a:ext cx="8563086" cy="103224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l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spc="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rPr>
              <a:t>Цель преддипломной практики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542B6B-C916-DA61-F296-DEC64207EBF2}"/>
              </a:ext>
            </a:extLst>
          </p:cNvPr>
          <p:cNvSpPr txBox="1"/>
          <p:nvPr/>
        </p:nvSpPr>
        <p:spPr>
          <a:xfrm>
            <a:off x="1411188" y="2076653"/>
            <a:ext cx="10035155" cy="1586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40000"/>
              </a:lnSpc>
              <a:spcBef>
                <a:spcPts val="0"/>
              </a:spcBef>
              <a:spcAft>
                <a:spcPts val="1000"/>
              </a:spcAft>
            </a:pP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</a:t>
            </a: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одготовка к выполнению выпускной квалификационной работы (ВКР) и освоение профессиональных компетенций в условиях реального рабочего процесса.</a:t>
            </a:r>
          </a:p>
        </p:txBody>
      </p:sp>
      <p:pic>
        <p:nvPicPr>
          <p:cNvPr id="26" name="Рисунок 25" descr="Линия со стрелкой: небольшой изгиб">
            <a:extLst>
              <a:ext uri="{FF2B5EF4-FFF2-40B4-BE49-F238E27FC236}">
                <a16:creationId xmlns:a16="http://schemas.microsoft.com/office/drawing/2014/main" id="{5E391CD2-AA60-907C-2088-7155DE8AF9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4" y="2064007"/>
            <a:ext cx="631001" cy="631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470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3EBC277-8922-124C-A792-B11619E7F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170013"/>
            <a:ext cx="10058400" cy="1323508"/>
          </a:xfrm>
        </p:spPr>
        <p:txBody>
          <a:bodyPr>
            <a:normAutofit/>
          </a:bodyPr>
          <a:lstStyle/>
          <a:p>
            <a:pPr lvl="0" algn="ctr">
              <a:lnSpc>
                <a:spcPct val="150000"/>
              </a:lnSpc>
              <a:tabLst>
                <a:tab pos="630555" algn="l"/>
              </a:tabLst>
            </a:pPr>
            <a:r>
              <a:rPr lang="ru-RU" sz="36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Характеристика предприятия МБОУ «СОШ №6»</a:t>
            </a:r>
            <a:endParaRPr lang="ru-RU" sz="3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Объект 11">
            <a:extLst>
              <a:ext uri="{FF2B5EF4-FFF2-40B4-BE49-F238E27FC236}">
                <a16:creationId xmlns:a16="http://schemas.microsoft.com/office/drawing/2014/main" id="{9D6CC192-7E55-837F-27DB-4E90D3238B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66800" y="1861193"/>
            <a:ext cx="10058400" cy="4023360"/>
          </a:xfrm>
        </p:spPr>
        <p:txBody>
          <a:bodyPr/>
          <a:lstStyle/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1ED436D9-76A5-0F81-5B8D-901AE30590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353" y="2051667"/>
            <a:ext cx="5809438" cy="38627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МБОУ &amp;amp;quot;СОШ № 6&amp;amp;quot;">
            <a:extLst>
              <a:ext uri="{FF2B5EF4-FFF2-40B4-BE49-F238E27FC236}">
                <a16:creationId xmlns:a16="http://schemas.microsoft.com/office/drawing/2014/main" id="{5936710E-DB2F-0C96-FF25-E07DAEC481A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8" t="8349" r="7652" b="3441"/>
          <a:stretch/>
        </p:blipFill>
        <p:spPr bwMode="auto">
          <a:xfrm>
            <a:off x="6498125" y="2051667"/>
            <a:ext cx="5150284" cy="3862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45729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1EA4BE-3459-F077-FDC6-149D9174B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7E47112B-BE90-4150-1D24-64608CA4347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35103" y="175847"/>
            <a:ext cx="8986838" cy="144975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2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клиентской части веб-сайта для цветочного магазина</a:t>
            </a: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673D54-6E73-4F30-FEE4-D73BDABB6624}"/>
              </a:ext>
            </a:extLst>
          </p:cNvPr>
          <p:cNvSpPr txBox="1"/>
          <p:nvPr/>
        </p:nvSpPr>
        <p:spPr>
          <a:xfrm>
            <a:off x="1411188" y="2018233"/>
            <a:ext cx="10035155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  <a:spcBef>
                <a:spcPts val="0"/>
              </a:spcBef>
            </a:pPr>
            <a:r>
              <a:rPr lang="ru-RU" sz="2400" dirty="0">
                <a:solidFill>
                  <a:schemeClr val="tx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Реализовать компонентную архитектуру интерфейса;</a:t>
            </a:r>
          </a:p>
        </p:txBody>
      </p:sp>
      <p:pic>
        <p:nvPicPr>
          <p:cNvPr id="26" name="Рисунок 25" descr="Линия со стрелкой: небольшой изгиб">
            <a:extLst>
              <a:ext uri="{FF2B5EF4-FFF2-40B4-BE49-F238E27FC236}">
                <a16:creationId xmlns:a16="http://schemas.microsoft.com/office/drawing/2014/main" id="{1D1738E5-CFB5-CC3B-BC3B-2BE97B4E38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2079179"/>
            <a:ext cx="631001" cy="631001"/>
          </a:xfrm>
          <a:prstGeom prst="rect">
            <a:avLst/>
          </a:prstGeom>
        </p:spPr>
      </p:pic>
      <p:pic>
        <p:nvPicPr>
          <p:cNvPr id="8" name="Рисунок 7" descr="Линия со стрелкой: небольшой изгиб">
            <a:extLst>
              <a:ext uri="{FF2B5EF4-FFF2-40B4-BE49-F238E27FC236}">
                <a16:creationId xmlns:a16="http://schemas.microsoft.com/office/drawing/2014/main" id="{103536B8-908C-6876-CBA7-F5F092A772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2861691"/>
            <a:ext cx="631001" cy="631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2BD5556-B50B-8D9B-E685-CB9957113D6F}"/>
              </a:ext>
            </a:extLst>
          </p:cNvPr>
          <p:cNvSpPr txBox="1"/>
          <p:nvPr/>
        </p:nvSpPr>
        <p:spPr>
          <a:xfrm>
            <a:off x="1411192" y="2800761"/>
            <a:ext cx="10035155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Сверстать основные разделы;</a:t>
            </a:r>
          </a:p>
        </p:txBody>
      </p:sp>
      <p:pic>
        <p:nvPicPr>
          <p:cNvPr id="4" name="Рисунок 3" descr="Линия со стрелкой: небольшой изгиб">
            <a:extLst>
              <a:ext uri="{FF2B5EF4-FFF2-40B4-BE49-F238E27FC236}">
                <a16:creationId xmlns:a16="http://schemas.microsoft.com/office/drawing/2014/main" id="{D0986EA8-2B7A-F825-8392-7BEBFBFDAA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3661821"/>
            <a:ext cx="631001" cy="6310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2AC08A8-3BBE-CA80-38CB-23E33A232A46}"/>
              </a:ext>
            </a:extLst>
          </p:cNvPr>
          <p:cNvSpPr txBox="1"/>
          <p:nvPr/>
        </p:nvSpPr>
        <p:spPr>
          <a:xfrm>
            <a:off x="1411187" y="3617778"/>
            <a:ext cx="10034671" cy="587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Реализовать динамический функционал.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4009383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10A00-797B-978F-BCEE-BA9E474E73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7690F342-C6FD-4121-5AAF-C826F8F21842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66102" y="788762"/>
            <a:ext cx="8724842" cy="81598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Структура интерфейса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E359DC-9677-CA20-FC10-69E69D257BBB}"/>
              </a:ext>
            </a:extLst>
          </p:cNvPr>
          <p:cNvSpPr txBox="1"/>
          <p:nvPr/>
        </p:nvSpPr>
        <p:spPr>
          <a:xfrm>
            <a:off x="1411188" y="2163846"/>
            <a:ext cx="100351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Шапка сайта;</a:t>
            </a:r>
          </a:p>
        </p:txBody>
      </p:sp>
      <p:pic>
        <p:nvPicPr>
          <p:cNvPr id="26" name="Рисунок 25" descr="Линия со стрелкой: небольшой изгиб">
            <a:extLst>
              <a:ext uri="{FF2B5EF4-FFF2-40B4-BE49-F238E27FC236}">
                <a16:creationId xmlns:a16="http://schemas.microsoft.com/office/drawing/2014/main" id="{85621E46-711C-D523-E6EF-64DCCA1E075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2079179"/>
            <a:ext cx="631001" cy="631001"/>
          </a:xfrm>
          <a:prstGeom prst="rect">
            <a:avLst/>
          </a:prstGeom>
        </p:spPr>
      </p:pic>
      <p:pic>
        <p:nvPicPr>
          <p:cNvPr id="8" name="Рисунок 7" descr="Линия со стрелкой: небольшой изгиб">
            <a:extLst>
              <a:ext uri="{FF2B5EF4-FFF2-40B4-BE49-F238E27FC236}">
                <a16:creationId xmlns:a16="http://schemas.microsoft.com/office/drawing/2014/main" id="{20D3B874-5368-2E88-3720-09F31789514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2876695"/>
            <a:ext cx="631001" cy="63100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AA4BF7E-EC16-4B6F-32DF-63918887B473}"/>
              </a:ext>
            </a:extLst>
          </p:cNvPr>
          <p:cNvSpPr txBox="1"/>
          <p:nvPr/>
        </p:nvSpPr>
        <p:spPr>
          <a:xfrm>
            <a:off x="1411192" y="2815765"/>
            <a:ext cx="10035155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Навигационное меню</a:t>
            </a:r>
            <a:r>
              <a:rPr lang="ru-RU" sz="24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;</a:t>
            </a:r>
          </a:p>
        </p:txBody>
      </p:sp>
      <p:pic>
        <p:nvPicPr>
          <p:cNvPr id="4" name="Рисунок 3" descr="Линия со стрелкой: небольшой изгиб">
            <a:extLst>
              <a:ext uri="{FF2B5EF4-FFF2-40B4-BE49-F238E27FC236}">
                <a16:creationId xmlns:a16="http://schemas.microsoft.com/office/drawing/2014/main" id="{185CC6F8-D82A-C9CD-0A34-1395A2102DF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3613284"/>
            <a:ext cx="631001" cy="6310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485436-9C36-6388-12F8-4D6E88487260}"/>
              </a:ext>
            </a:extLst>
          </p:cNvPr>
          <p:cNvSpPr txBox="1"/>
          <p:nvPr/>
        </p:nvSpPr>
        <p:spPr>
          <a:xfrm>
            <a:off x="1411188" y="3697951"/>
            <a:ext cx="100346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Каталог товаров (адаптивная сетка);</a:t>
            </a:r>
          </a:p>
        </p:txBody>
      </p:sp>
      <p:pic>
        <p:nvPicPr>
          <p:cNvPr id="12" name="Рисунок 11" descr="Линия со стрелкой: небольшой изгиб">
            <a:extLst>
              <a:ext uri="{FF2B5EF4-FFF2-40B4-BE49-F238E27FC236}">
                <a16:creationId xmlns:a16="http://schemas.microsoft.com/office/drawing/2014/main" id="{801B6155-B3CC-A0CF-9A09-D1A22B89C6C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4349873"/>
            <a:ext cx="631001" cy="6310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7A87699-BB78-495E-B3A2-101B7631DF7C}"/>
              </a:ext>
            </a:extLst>
          </p:cNvPr>
          <p:cNvSpPr txBox="1"/>
          <p:nvPr/>
        </p:nvSpPr>
        <p:spPr>
          <a:xfrm>
            <a:off x="1411188" y="4434540"/>
            <a:ext cx="100346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Подвал (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footer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15089822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581F1-EDD4-4B61-6AB8-6D82140B2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D48C37F7-4377-AE61-B065-7CE01800931F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35104" y="788762"/>
            <a:ext cx="8986838" cy="81598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компоненты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C797306-498E-51C6-AA7B-DAA2295051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853" y="3385686"/>
            <a:ext cx="6472294" cy="2256815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337C789-6662-A760-7878-3C7625D3A23E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4500"/>
          <a:stretch/>
        </p:blipFill>
        <p:spPr bwMode="auto">
          <a:xfrm>
            <a:off x="1678600" y="1885448"/>
            <a:ext cx="8834798" cy="10680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7336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F8F49D-706B-E844-F25D-3A12B7EA3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BCF49A5C-4B80-2883-5B51-334F498C4B30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35104" y="788762"/>
            <a:ext cx="8986838" cy="81598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компоненты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36B2315-49D4-0D66-C4C6-196AF77325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178099" y="3429000"/>
            <a:ext cx="5835800" cy="1647659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D5659ED-1A4C-840D-DDED-52014E4EDEA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80" r="3880"/>
          <a:stretch/>
        </p:blipFill>
        <p:spPr bwMode="auto">
          <a:xfrm>
            <a:off x="1678600" y="1885448"/>
            <a:ext cx="8834798" cy="1068020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96534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530AC-0F3F-D752-946D-A09CBA51A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1A3D333E-79A5-2D30-5854-50EDC5BE1BE3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35104" y="788762"/>
            <a:ext cx="8986838" cy="81598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компоненты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CAF01A4-5E33-C561-32B2-9BB77E7751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02173" y="2759387"/>
            <a:ext cx="6787199" cy="1904576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B9C1452-EA28-E4D0-C9F0-F503A7D9F9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648" y="1987006"/>
            <a:ext cx="4545954" cy="4110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4671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A26541-A012-0108-4BC4-046FCE300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B7D4EBFA-3E88-9542-2A4F-7DB8D4E918FB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935104" y="788762"/>
            <a:ext cx="8986838" cy="81598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компоненты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5DC6BC1-4DFD-0B34-89F0-074539B7326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9237" t="17945" r="8120"/>
          <a:stretch/>
        </p:blipFill>
        <p:spPr bwMode="auto">
          <a:xfrm>
            <a:off x="1880222" y="2199894"/>
            <a:ext cx="8431551" cy="561594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01976FC-CACB-B4C5-C81E-3444ED519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0567" y="3429000"/>
            <a:ext cx="5730865" cy="21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8965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0F288-ED5F-3E6C-949A-87AC070B3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Объект 6">
            <a:extLst>
              <a:ext uri="{FF2B5EF4-FFF2-40B4-BE49-F238E27FC236}">
                <a16:creationId xmlns:a16="http://schemas.microsoft.com/office/drawing/2014/main" id="{EB71ACEE-D45F-58D0-5789-E718C15E88E5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066102" y="788762"/>
            <a:ext cx="8724842" cy="815983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45720" rIns="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R="0" lvl="0" algn="ctr" defTabSz="914400" rtl="0" eaLnBrk="1" fontAlgn="auto" latinLnBrk="0" hangingPunct="1">
              <a:lnSpc>
                <a:spcPct val="150000"/>
              </a:lnSpc>
              <a:spcBef>
                <a:spcPts val="0"/>
              </a:spcBef>
              <a:buClr>
                <a:schemeClr val="accent1"/>
              </a:buClr>
              <a:buSzPct val="100000"/>
              <a:tabLst/>
              <a:defRPr/>
            </a:pPr>
            <a:r>
              <a:rPr lang="ru-RU" sz="36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Заключение</a:t>
            </a:r>
            <a:endParaRPr kumimoji="0" lang="ru-RU" sz="36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Times New Roman" panose="02020603050405020304" pitchFamily="18" charset="0"/>
              <a:ea typeface="+mn-ea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CB74ADC-17B6-5BCA-2544-3E881208A74F}"/>
              </a:ext>
            </a:extLst>
          </p:cNvPr>
          <p:cNvSpPr txBox="1"/>
          <p:nvPr/>
        </p:nvSpPr>
        <p:spPr>
          <a:xfrm>
            <a:off x="1411188" y="2042479"/>
            <a:ext cx="10068719" cy="1133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Практика успешно пройдена в МБОУ «СОШ №6» г. Югорска, все поставленные задачи выполнены;</a:t>
            </a:r>
          </a:p>
        </p:txBody>
      </p:sp>
      <p:pic>
        <p:nvPicPr>
          <p:cNvPr id="26" name="Рисунок 25" descr="Линия со стрелкой: небольшой изгиб">
            <a:extLst>
              <a:ext uri="{FF2B5EF4-FFF2-40B4-BE49-F238E27FC236}">
                <a16:creationId xmlns:a16="http://schemas.microsoft.com/office/drawing/2014/main" id="{884A986E-EB74-AE13-4DA9-3033A9D1C32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2079179"/>
            <a:ext cx="631001" cy="631001"/>
          </a:xfrm>
          <a:prstGeom prst="rect">
            <a:avLst/>
          </a:prstGeom>
        </p:spPr>
      </p:pic>
      <p:pic>
        <p:nvPicPr>
          <p:cNvPr id="4" name="Рисунок 3" descr="Линия со стрелкой: небольшой изгиб">
            <a:extLst>
              <a:ext uri="{FF2B5EF4-FFF2-40B4-BE49-F238E27FC236}">
                <a16:creationId xmlns:a16="http://schemas.microsoft.com/office/drawing/2014/main" id="{850B0CE6-0065-6550-B3C4-76793BDC75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4166178"/>
            <a:ext cx="631001" cy="6310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EED792B-7A9B-329C-3A7C-F5E4C023A5E3}"/>
              </a:ext>
            </a:extLst>
          </p:cNvPr>
          <p:cNvSpPr txBox="1"/>
          <p:nvPr/>
        </p:nvSpPr>
        <p:spPr>
          <a:xfrm>
            <a:off x="1411188" y="4166178"/>
            <a:ext cx="10034671" cy="11339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Клиентская часть готова к интеграции с серверной частью, развёртыванию и дальнейшему развитию функционала.</a:t>
            </a:r>
          </a:p>
        </p:txBody>
      </p:sp>
      <p:pic>
        <p:nvPicPr>
          <p:cNvPr id="12" name="Рисунок 11" descr="Линия со стрелкой: небольшой изгиб">
            <a:extLst>
              <a:ext uri="{FF2B5EF4-FFF2-40B4-BE49-F238E27FC236}">
                <a16:creationId xmlns:a16="http://schemas.microsoft.com/office/drawing/2014/main" id="{FB3D6377-77EA-3CA3-CCBA-7BC7FED417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12093" y="3368687"/>
            <a:ext cx="631001" cy="63100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C6AAC22-AE00-C819-D3D1-1A0C842ABBA6}"/>
              </a:ext>
            </a:extLst>
          </p:cNvPr>
          <p:cNvSpPr txBox="1"/>
          <p:nvPr/>
        </p:nvSpPr>
        <p:spPr>
          <a:xfrm>
            <a:off x="1411188" y="3345460"/>
            <a:ext cx="10034671" cy="5799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Разработанный интерфейс отвечает поставленным требованиям; </a:t>
            </a:r>
          </a:p>
        </p:txBody>
      </p:sp>
    </p:spTree>
    <p:extLst>
      <p:ext uri="{BB962C8B-B14F-4D97-AF65-F5344CB8AC3E}">
        <p14:creationId xmlns:p14="http://schemas.microsoft.com/office/powerpoint/2010/main" val="1142197290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923</TotalTime>
  <Words>461</Words>
  <Application>Microsoft Office PowerPoint</Application>
  <PresentationFormat>Широкоэкранный</PresentationFormat>
  <Paragraphs>47</Paragraphs>
  <Slides>10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6" baseType="lpstr">
      <vt:lpstr>Calibri</vt:lpstr>
      <vt:lpstr>Calibri Light</vt:lpstr>
      <vt:lpstr>system-ui</vt:lpstr>
      <vt:lpstr>Times New Roman</vt:lpstr>
      <vt:lpstr>YS Text</vt:lpstr>
      <vt:lpstr>Ретро</vt:lpstr>
      <vt:lpstr>ОТЧЕТ ПО ПРЕДДИПЛОМНОЙ ПРАКТИКЕ</vt:lpstr>
      <vt:lpstr>Цель преддипломной практики</vt:lpstr>
      <vt:lpstr>Характеристика предприятия МБОУ «СОШ №6»</vt:lpstr>
      <vt:lpstr>Разработка клиентской части веб-сайта для цветочного магазина</vt:lpstr>
      <vt:lpstr>Структура интерфейса</vt:lpstr>
      <vt:lpstr>Основные компоненты</vt:lpstr>
      <vt:lpstr>Основные компоненты</vt:lpstr>
      <vt:lpstr>Основные компоненты</vt:lpstr>
      <vt:lpstr>Основные компоненты</vt:lpstr>
      <vt:lpstr>Заключение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Департамент образования и науки Ханты-Мансийского автономного округа – Югры БЮДЖЕТНОЕ УЧРЕЖДЕНИЕ ПРОФЕССИОНАЛЬНОГО ОБРАЗОВАНИЯ ХАНТЫ-МАНСИЙСКОГО АВТОНОМНОГО ОКРУГА – ЮГРЫ «ЮГОРСКИЙ ПОЛИТЕХНИЧЕСКИЙ КОЛЛЕДЖ»</dc:title>
  <dc:creator>Елизавета</dc:creator>
  <cp:lastModifiedBy>mlzw mlzw</cp:lastModifiedBy>
  <cp:revision>49</cp:revision>
  <dcterms:created xsi:type="dcterms:W3CDTF">2023-03-20T15:42:17Z</dcterms:created>
  <dcterms:modified xsi:type="dcterms:W3CDTF">2026-05-15T18:57:50Z</dcterms:modified>
</cp:coreProperties>
</file>