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71" r:id="rId6"/>
    <p:sldId id="276" r:id="rId7"/>
    <p:sldId id="261" r:id="rId8"/>
    <p:sldId id="272" r:id="rId9"/>
    <p:sldId id="273" r:id="rId10"/>
    <p:sldId id="262" r:id="rId11"/>
    <p:sldId id="274" r:id="rId12"/>
    <p:sldId id="275" r:id="rId13"/>
    <p:sldId id="278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72" autoAdjust="0"/>
    <p:restoredTop sz="82764" autoAdjust="0"/>
  </p:normalViewPr>
  <p:slideViewPr>
    <p:cSldViewPr snapToGrid="0">
      <p:cViewPr varScale="1">
        <p:scale>
          <a:sx n="52" d="100"/>
          <a:sy n="52" d="100"/>
        </p:scale>
        <p:origin x="1028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4B062-2B11-4248-98E2-3DBC15892DE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0DB64-6B90-4225-844C-57CC3718F5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360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166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Цель практики: формирование практических навыков полного жизненного обеспечения ИС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745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«Средняя общеобразовательная школа № 6» является муниципальным бюджетным общеобразовательным учреждением, осуществляющим деятельность в сфере общего образования на территории города Югорска. Организация отвечает за реализацию основных общеобразовательных программ, направленное на качественное обучение, всестороннее развитие, воспитание и социальную адаптацию учащихся.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5976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Целью прохождения производственной практики по ПМ 05 было освоение жизненного цикла создания информационных систем. Ход работы представлен на экране.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857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Целью прохождения производственной практики по ПМ было освоение процессов технической поддержки и сопровождения информационных систем. Ход работы представлен на экране.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435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Целью прохождения производственной практики по ПМ 07 было освоение процессов администрирования серверной инфраструктуры и систем управления базами данных. Ход работы представлен на экране.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999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качестве индивидуального задания для производственной практики была выбрана тема «Разработка эксплуатационной документации для оборудования компьютерного класса».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337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Цель индивидуального задания: создание комплекта нормативно-методических документов, регламентирующих порядок использования и технического обслуживания оборудования школьного компьютерного класса. Задачи представлены на экране.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100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Эксплуатационная документация состоит из четырёх разделов, каждый из которых закрывает определённый аспект эксплуатации оборудования.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127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данном разделе сформулированы обязательные требования к пользователям компьютерного класса.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304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обеспечения долговечности оборудования разработан пошаговый график обслуживания, адаптированный под школьные реалии и ограниченные ресурсы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5393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Раздел выполнен в формате таблицы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него включены наиболее частые проблемы, возникающие в учебном процессе. Для каждой ситуации прописан пошаговый алгоритм, который позволяет устранить большинство типовых сбоев без привлечения внешних специалистов.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889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B4C94-1976-EC16-A549-55EF3AD47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B4909BD-85E2-7406-C605-AF4A4C41D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81872EC-C402-9857-8683-EF2AAF333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контроля состояния техники разработан единый журнал. Журнал служит основой для планирования ремонтов, обоснования закупок нового оборудования и отчётности перед администрацией школы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86DA52-600C-4D86-7199-F2EA7C0BF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326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Практическая деятельность позволила развить компетенции, необходимые для профессиональной деятельности в сфере IT-технологий, а приобретённые умения повысили готовность решать реальные производственные задачи, связанные с проектированием, разработкой</a:t>
            </a:r>
            <a:r>
              <a:rPr lang="ru-RU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сопровождением и администрированием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информационных систем.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D0DB64-6B90-4225-844C-57CC3718F58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726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38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85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818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396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2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852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9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0E9117A-C41E-4579-A031-EC76166658D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358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84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43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117A-C41E-4579-A031-EC76166658D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08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0E9117A-C41E-4579-A031-EC76166658D6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85E2F35-EE8F-413E-A962-016872E1637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0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131DBA-DB18-1C69-E552-788FAE26D34F}"/>
              </a:ext>
            </a:extLst>
          </p:cNvPr>
          <p:cNvSpPr>
            <a:spLocks/>
          </p:cNvSpPr>
          <p:nvPr/>
        </p:nvSpPr>
        <p:spPr>
          <a:xfrm>
            <a:off x="1524000" y="71386"/>
            <a:ext cx="9144000" cy="142780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Департамент образования и науки</a:t>
            </a:r>
            <a:b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Ханты-Мансийского автономного округа </a:t>
            </a: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Югры</a:t>
            </a:r>
            <a:b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БЮДЖЕТНОЕ УЧРЕЖДЕНИЕ</a:t>
            </a:r>
            <a:br>
              <a:rPr kumimoji="0" lang="ru-RU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ПРОФЕССИОНАЛЬНОГО ОБРАЗОВАНИЯ</a:t>
            </a:r>
            <a:br>
              <a:rPr kumimoji="0" lang="ru-RU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ХАНТЫ-МАНСИЙСКОГО АВТОНОМНОГО ОКРУГА – ЮГРЫ</a:t>
            </a:r>
            <a:br>
              <a:rPr kumimoji="0" lang="ru-RU" sz="15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15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ru-RU" sz="15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ЮГОРСКИЙ ПОЛИТЕХНИЧЕСКИЙ КОЛЛЕДЖ</a:t>
            </a:r>
            <a:r>
              <a:rPr kumimoji="0" lang="ru-RU" sz="15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kumimoji="0" lang="ru-RU" sz="1500" b="0" i="0" u="none" strike="noStrike" kern="1200" cap="none" spc="-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004F80-9FF8-DB93-EE85-2BE43927C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62122"/>
            <a:ext cx="9144000" cy="454262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5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КУРСОВОЙ</a:t>
            </a:r>
            <a:r>
              <a:rPr lang="ru-RU" sz="1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endParaRPr lang="ru-RU" sz="15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8D28D4-DB72-CF7B-1444-F9A1DDDBEA6D}"/>
              </a:ext>
            </a:extLst>
          </p:cNvPr>
          <p:cNvSpPr txBox="1"/>
          <p:nvPr/>
        </p:nvSpPr>
        <p:spPr>
          <a:xfrm>
            <a:off x="867967" y="2464919"/>
            <a:ext cx="738553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</a:t>
            </a:r>
            <a:r>
              <a:rPr lang="ru-RU" sz="1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«Информационные системы и программирование»</a:t>
            </a: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EB700C3-9064-A0FB-E0C8-D1FCDA7F96A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93247" y="3022263"/>
            <a:ext cx="5205505" cy="9603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b="1" spc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ПРОИЗВОДСТВЕННАЯ ПРАКТИКА ПО ПМ 05, ПМ 06 и ПМ 07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A5B736-0205-0D1A-F892-B7D387FFA5A1}"/>
              </a:ext>
            </a:extLst>
          </p:cNvPr>
          <p:cNvSpPr txBox="1"/>
          <p:nvPr/>
        </p:nvSpPr>
        <p:spPr>
          <a:xfrm>
            <a:off x="6341724" y="4709363"/>
            <a:ext cx="4982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Макарова Елизавета Геннадьевна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Курс: 4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ИСиП-22-4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0BD988-AF56-B658-A425-314A9362E4F9}"/>
              </a:ext>
            </a:extLst>
          </p:cNvPr>
          <p:cNvSpPr txBox="1"/>
          <p:nvPr/>
        </p:nvSpPr>
        <p:spPr>
          <a:xfrm>
            <a:off x="5395546" y="5920499"/>
            <a:ext cx="1400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Югорск, 2026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112DC6D-6F87-9AC2-2223-9B4F2BB55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67" y="4634884"/>
            <a:ext cx="4419141" cy="1076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11A998-CCF3-6CAF-39A3-549E897E07B9}"/>
              </a:ext>
            </a:extLst>
          </p:cNvPr>
          <p:cNvSpPr txBox="1"/>
          <p:nvPr/>
        </p:nvSpPr>
        <p:spPr>
          <a:xfrm>
            <a:off x="3363603" y="1571121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(БУ «ЮГОРСКИЙ ПОЛИТЕХНИЧЕСКИЙ КОЛЛЕДЖ»)</a:t>
            </a:r>
          </a:p>
        </p:txBody>
      </p:sp>
    </p:spTree>
    <p:extLst>
      <p:ext uri="{BB962C8B-B14F-4D97-AF65-F5344CB8AC3E}">
        <p14:creationId xmlns:p14="http://schemas.microsoft.com/office/powerpoint/2010/main" val="636271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>
            <a:extLst>
              <a:ext uri="{FF2B5EF4-FFF2-40B4-BE49-F238E27FC236}">
                <a16:creationId xmlns:a16="http://schemas.microsoft.com/office/drawing/2014/main" id="{9F2A5D30-6CF4-52D9-2E69-338111395A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96962" y="633046"/>
            <a:ext cx="8563086" cy="10322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100000"/>
              <a:tabLst/>
              <a:defRPr/>
            </a:pPr>
            <a:r>
              <a:rPr lang="ru-RU" sz="3600" spc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Цель производственной практики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42B6B-C916-DA61-F296-DEC64207EBF2}"/>
              </a:ext>
            </a:extLst>
          </p:cNvPr>
          <p:cNvSpPr txBox="1"/>
          <p:nvPr/>
        </p:nvSpPr>
        <p:spPr>
          <a:xfrm>
            <a:off x="1411188" y="2076653"/>
            <a:ext cx="10035155" cy="906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lang="ru-RU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Освоение полного цикла работы с ИС: проектирование и разработка, сопровождение и обновление, администрирование серверов и БД</a:t>
            </a:r>
          </a:p>
        </p:txBody>
      </p:sp>
      <p:pic>
        <p:nvPicPr>
          <p:cNvPr id="26" name="Рисунок 25" descr="Линия со стрелкой: небольшой изгиб">
            <a:extLst>
              <a:ext uri="{FF2B5EF4-FFF2-40B4-BE49-F238E27FC236}">
                <a16:creationId xmlns:a16="http://schemas.microsoft.com/office/drawing/2014/main" id="{5E391CD2-AA60-907C-2088-7155DE8AF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094" y="2064007"/>
            <a:ext cx="631001" cy="6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70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EBC277-8922-124C-A792-B11619E7F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013"/>
            <a:ext cx="10058400" cy="1323508"/>
          </a:xfrm>
        </p:spPr>
        <p:txBody>
          <a:bodyPr>
            <a:normAutofit/>
          </a:bodyPr>
          <a:lstStyle/>
          <a:p>
            <a:pPr lvl="0" algn="ctr">
              <a:lnSpc>
                <a:spcPct val="150000"/>
              </a:lnSpc>
              <a:tabLst>
                <a:tab pos="630555" algn="l"/>
              </a:tabLst>
            </a:pPr>
            <a:r>
              <a:rPr lang="ru-RU" sz="3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Характеристика предприятия МБОУ «СОШ №6»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9D6CC192-7E55-837F-27DB-4E90D3238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61193"/>
            <a:ext cx="10058400" cy="402336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1ED436D9-76A5-0F81-5B8D-901AE3059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53" y="2051667"/>
            <a:ext cx="5809438" cy="386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МБОУ &amp;amp;quot;СОШ № 6&amp;amp;quot;">
            <a:extLst>
              <a:ext uri="{FF2B5EF4-FFF2-40B4-BE49-F238E27FC236}">
                <a16:creationId xmlns:a16="http://schemas.microsoft.com/office/drawing/2014/main" id="{5936710E-DB2F-0C96-FF25-E07DAEC481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8" t="8349" r="7652" b="3441"/>
          <a:stretch/>
        </p:blipFill>
        <p:spPr bwMode="auto">
          <a:xfrm>
            <a:off x="6498125" y="2051667"/>
            <a:ext cx="5150284" cy="3862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457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5146D-C620-6133-2B7E-B4FB41E59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701040"/>
            <a:ext cx="10800080" cy="76200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ПМ 05 Проектирование и разработка информационных систем</a:t>
            </a:r>
            <a:endParaRPr lang="ru-RU" sz="6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BBE52F2-4234-3BBF-6DB6-15E4A5A98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88160"/>
            <a:ext cx="10058400" cy="4561840"/>
          </a:xfrm>
        </p:spPr>
        <p:txBody>
          <a:bodyPr>
            <a:noAutofit/>
          </a:bodyPr>
          <a:lstStyle/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Сбор исходных данных для разработки проектной документации;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проектной документации в соответствии с требованиями заказчика</a:t>
            </a: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проектной документации в соответствии с ТЗ</a:t>
            </a: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модулей в соответствии с ТЗ</a:t>
            </a: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Тестирование ИС на этапе опытной эксплуатации;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технической документации на эксплуатацию ИС;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Оценка ИС.</a:t>
            </a:r>
            <a:endParaRPr lang="en-US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05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5205F-7F12-B5B2-7350-B4DEA271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C46FF-5495-04A9-30DD-9BD7413AA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5601"/>
            <a:ext cx="10058400" cy="1127759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sz="3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ПМ 06 </a:t>
            </a: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Сопровождение информационных систем</a:t>
            </a:r>
            <a:endParaRPr lang="ru-RU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CBADBF7-ED5C-F908-C83B-F702FFBB7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0720"/>
            <a:ext cx="10058400" cy="4206240"/>
          </a:xfrm>
        </p:spPr>
        <p:txBody>
          <a:bodyPr>
            <a:normAutofit/>
          </a:bodyPr>
          <a:lstStyle/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ТЗ на сопровождение ИС;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Исправление ошибок в программном коде</a:t>
            </a:r>
            <a:r>
              <a:rPr lang="ru-RU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обучающей документации</a:t>
            </a:r>
            <a:r>
              <a:rPr lang="ru-RU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Оценка функционирования ИС в соответствии с ТЗ;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</a:t>
            </a:r>
            <a:r>
              <a:rPr lang="ru-RU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ехническое сопровождение ИС 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соответствии с ТЗ.</a:t>
            </a:r>
            <a:endParaRPr lang="ru-RU" sz="2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550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1542-CB29-1EB2-E6F3-08FE48F2B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78BE8-631B-5C3E-3D2F-BC2F362C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440" y="304799"/>
            <a:ext cx="10292080" cy="1158241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sz="3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ПМ 07 </a:t>
            </a: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Соадминистрирование баз данных и серверов</a:t>
            </a:r>
            <a:endParaRPr lang="ru-RU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18BEAE1-066E-F85E-9866-B82C98651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0720"/>
            <a:ext cx="10058400" cy="4206240"/>
          </a:xfrm>
        </p:spPr>
        <p:txBody>
          <a:bodyPr>
            <a:normAutofit/>
          </a:bodyPr>
          <a:lstStyle/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Выявление технических проблем при эксплуатации;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Администрирование отдельных компонент серверов</a:t>
            </a:r>
            <a:r>
              <a:rPr lang="ru-RU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Формирование требований к конфигурации локальных компьютерных сетей и серверного оборудования</a:t>
            </a:r>
            <a:r>
              <a:rPr lang="ru-RU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Администрирование баз данных;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Аудит систем безопасности баз данных и серверов.</a:t>
            </a:r>
            <a:endParaRPr lang="ru-RU" sz="26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649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15423-5860-4CBD-36AE-7A1C748FF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97710"/>
            <a:ext cx="10058400" cy="888049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3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Индивидуальное задание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9A25D5-3B2F-B457-5560-50539101E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627312"/>
            <a:ext cx="10058400" cy="1889760"/>
          </a:xfrm>
        </p:spPr>
        <p:txBody>
          <a:bodyPr>
            <a:normAutofit/>
          </a:bodyPr>
          <a:lstStyle/>
          <a:p>
            <a:pPr marL="0" indent="4500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эксплуатационной документации для оборудования компьютерного класса»</a:t>
            </a:r>
          </a:p>
        </p:txBody>
      </p:sp>
    </p:spTree>
    <p:extLst>
      <p:ext uri="{BB962C8B-B14F-4D97-AF65-F5344CB8AC3E}">
        <p14:creationId xmlns:p14="http://schemas.microsoft.com/office/powerpoint/2010/main" val="2377805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EA4BE-3459-F077-FDC6-149D9174B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>
            <a:extLst>
              <a:ext uri="{FF2B5EF4-FFF2-40B4-BE49-F238E27FC236}">
                <a16:creationId xmlns:a16="http://schemas.microsoft.com/office/drawing/2014/main" id="{7E47112B-BE90-4150-1D24-64608CA434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96962" y="633046"/>
            <a:ext cx="8563086" cy="103224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SzPct val="100000"/>
              <a:tabLst/>
              <a:defRPr/>
            </a:pPr>
            <a:r>
              <a:rPr lang="ru-RU" sz="3600" spc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Цель и задачи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673D54-6E73-4F30-FEE4-D73BDABB6624}"/>
              </a:ext>
            </a:extLst>
          </p:cNvPr>
          <p:cNvSpPr txBox="1"/>
          <p:nvPr/>
        </p:nvSpPr>
        <p:spPr>
          <a:xfrm>
            <a:off x="1411188" y="1954733"/>
            <a:ext cx="10035155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</a:pPr>
            <a:r>
              <a:rPr lang="ru-RU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Изучить текущий состав оборудования и ПО класса;</a:t>
            </a:r>
          </a:p>
        </p:txBody>
      </p:sp>
      <p:pic>
        <p:nvPicPr>
          <p:cNvPr id="26" name="Рисунок 25" descr="Линия со стрелкой: небольшой изгиб">
            <a:extLst>
              <a:ext uri="{FF2B5EF4-FFF2-40B4-BE49-F238E27FC236}">
                <a16:creationId xmlns:a16="http://schemas.microsoft.com/office/drawing/2014/main" id="{1D1738E5-CFB5-CC3B-BC3B-2BE97B4E3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093" y="2015679"/>
            <a:ext cx="631001" cy="631001"/>
          </a:xfrm>
          <a:prstGeom prst="rect">
            <a:avLst/>
          </a:prstGeom>
        </p:spPr>
      </p:pic>
      <p:pic>
        <p:nvPicPr>
          <p:cNvPr id="8" name="Рисунок 7" descr="Линия со стрелкой: небольшой изгиб">
            <a:extLst>
              <a:ext uri="{FF2B5EF4-FFF2-40B4-BE49-F238E27FC236}">
                <a16:creationId xmlns:a16="http://schemas.microsoft.com/office/drawing/2014/main" id="{103536B8-908C-6876-CBA7-F5F092A77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093" y="2758410"/>
            <a:ext cx="631001" cy="631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BD5556-B50B-8D9B-E685-CB9957113D6F}"/>
              </a:ext>
            </a:extLst>
          </p:cNvPr>
          <p:cNvSpPr txBox="1"/>
          <p:nvPr/>
        </p:nvSpPr>
        <p:spPr>
          <a:xfrm>
            <a:off x="1411192" y="2697480"/>
            <a:ext cx="10035155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Провести анализ типовых сценариев использования техники;</a:t>
            </a:r>
          </a:p>
        </p:txBody>
      </p:sp>
      <p:pic>
        <p:nvPicPr>
          <p:cNvPr id="4" name="Рисунок 3" descr="Линия со стрелкой: небольшой изгиб">
            <a:extLst>
              <a:ext uri="{FF2B5EF4-FFF2-40B4-BE49-F238E27FC236}">
                <a16:creationId xmlns:a16="http://schemas.microsoft.com/office/drawing/2014/main" id="{D0986EA8-2B7A-F825-8392-7BEBFBFDA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093" y="3520440"/>
            <a:ext cx="631001" cy="631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AC08A8-3BBE-CA80-38CB-23E33A232A46}"/>
              </a:ext>
            </a:extLst>
          </p:cNvPr>
          <p:cNvSpPr txBox="1"/>
          <p:nvPr/>
        </p:nvSpPr>
        <p:spPr>
          <a:xfrm>
            <a:off x="1411187" y="3476397"/>
            <a:ext cx="10034671" cy="1141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инструкции для разных категорий пользователей (учителя, учащиеся, администратор);</a:t>
            </a:r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070FE-B47B-EDF1-ABDE-86FAC6755589}"/>
              </a:ext>
            </a:extLst>
          </p:cNvPr>
          <p:cNvSpPr txBox="1"/>
          <p:nvPr/>
        </p:nvSpPr>
        <p:spPr>
          <a:xfrm>
            <a:off x="1411187" y="4758178"/>
            <a:ext cx="10034671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Создать формы отчётности для фиксации состояния техники и выполненных работ.</a:t>
            </a:r>
          </a:p>
        </p:txBody>
      </p:sp>
      <p:pic>
        <p:nvPicPr>
          <p:cNvPr id="14" name="Рисунок 13" descr="Линия со стрелкой: небольшой изгиб">
            <a:extLst>
              <a:ext uri="{FF2B5EF4-FFF2-40B4-BE49-F238E27FC236}">
                <a16:creationId xmlns:a16="http://schemas.microsoft.com/office/drawing/2014/main" id="{774D33FB-2F12-A699-FDA4-E4A4D8F77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092" y="4758178"/>
            <a:ext cx="631001" cy="6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83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B07F4-5B31-9E18-A577-EFEBD6C93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5760"/>
            <a:ext cx="10058400" cy="115824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Эксплуатационная документация 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8B6146-C11D-3C01-9FCE-4E9783EAE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05000"/>
            <a:ext cx="10058400" cy="3964094"/>
          </a:xfrm>
        </p:spPr>
        <p:txBody>
          <a:bodyPr>
            <a:normAutofit/>
          </a:bodyPr>
          <a:lstStyle/>
          <a:p>
            <a:pPr mar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Памятка по правилам эксплуатации и технике безопасности;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Регламент планового технического обслуживания;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Справочник типовых неисправностей и алгоритмов их первичного устранения;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Журнал учёта оборудования и регистрации инцидентов.</a:t>
            </a:r>
          </a:p>
        </p:txBody>
      </p:sp>
    </p:spTree>
    <p:extLst>
      <p:ext uri="{BB962C8B-B14F-4D97-AF65-F5344CB8AC3E}">
        <p14:creationId xmlns:p14="http://schemas.microsoft.com/office/powerpoint/2010/main" val="3423088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46A11-449D-0D61-C702-F0555702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162" y="187016"/>
            <a:ext cx="10058400" cy="1347144"/>
          </a:xfrm>
        </p:spPr>
        <p:txBody>
          <a:bodyPr>
            <a:normAutofit/>
          </a:bodyPr>
          <a:lstStyle/>
          <a:p>
            <a:pPr lvl="0" algn="ctr">
              <a:lnSpc>
                <a:spcPct val="150000"/>
              </a:lnSpc>
              <a:tabLst>
                <a:tab pos="630555" algn="l"/>
              </a:tabLst>
            </a:pP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Правила эксплуатации и техника безопасности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6EDABA-DA95-3CF1-4AD3-A12E84BD3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03400"/>
            <a:ext cx="10363200" cy="4447097"/>
          </a:xfrm>
        </p:spPr>
        <p:txBody>
          <a:bodyPr>
            <a:normAutofit/>
          </a:bodyPr>
          <a:lstStyle/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Учащиеся обязаны соблюдать правила поведения;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Учащимся запрещено изменять настройки операционной системы;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Учащимся запрещено подключать внешние носители без разрешения преподавателя;</a:t>
            </a:r>
          </a:p>
          <a:p>
            <a:pPr marL="0" lvl="0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Преподаватели несут ответственность за соблюдение регламента во время урока, своевременное выключение техники по окончании занятия и фиксацию замечаний в журнале.</a:t>
            </a:r>
          </a:p>
          <a:p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494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1F9D8-5272-D2F0-DCFB-F03C4DB9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7F0BAC-CE7B-8C8A-CDC6-4CDD7D05B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162" y="187016"/>
            <a:ext cx="10058400" cy="1347144"/>
          </a:xfrm>
        </p:spPr>
        <p:txBody>
          <a:bodyPr>
            <a:normAutofit/>
          </a:bodyPr>
          <a:lstStyle/>
          <a:p>
            <a:pPr lvl="0" algn="ctr">
              <a:lnSpc>
                <a:spcPct val="150000"/>
              </a:lnSpc>
              <a:tabLst>
                <a:tab pos="630555" algn="l"/>
              </a:tabLst>
            </a:pP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Регламент технического обслуживания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A0DCD5-EC06-1A58-6DEA-625A55415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0" y="1943100"/>
            <a:ext cx="10655300" cy="3810000"/>
          </a:xfrm>
        </p:spPr>
        <p:txBody>
          <a:bodyPr>
            <a:normAutofit/>
          </a:bodyPr>
          <a:lstStyle/>
          <a:p>
            <a:pPr marL="0" lvl="5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Ежедневные операции: визуальный осмотр рабочего места, проверка целостности кабелей питания и сетевого подключения и др.;</a:t>
            </a:r>
          </a:p>
          <a:p>
            <a:pPr marL="0" lvl="5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Еженедельные операции: очистка системных блоков и мониторов от пыли, проверка актуальности антивирусных баз и др.;</a:t>
            </a:r>
          </a:p>
          <a:p>
            <a:pPr marL="0" lvl="5" indent="450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Ежемесячные/каникулярные операции: глубокое тестирование сетевой инфраструктуры, проверка целостности системных файлов и др.</a:t>
            </a:r>
            <a:endParaRPr lang="ru-RU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917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88CE2-2443-7E5F-1E8D-D956B5A2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D6D3D-9A4F-7F99-3852-F22498A72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162" y="187016"/>
            <a:ext cx="10058400" cy="1347144"/>
          </a:xfrm>
        </p:spPr>
        <p:txBody>
          <a:bodyPr>
            <a:normAutofit/>
          </a:bodyPr>
          <a:lstStyle/>
          <a:p>
            <a:pPr lvl="0" algn="ctr">
              <a:lnSpc>
                <a:spcPct val="150000"/>
              </a:lnSpc>
              <a:tabLst>
                <a:tab pos="630555" algn="l"/>
              </a:tabLst>
            </a:pP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Справочник типовых неисправностей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E26F85F0-0DB9-8C37-AA2D-C6C411DED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6229195"/>
              </p:ext>
            </p:extLst>
          </p:nvPr>
        </p:nvGraphicFramePr>
        <p:xfrm>
          <a:off x="899160" y="2105660"/>
          <a:ext cx="10393680" cy="363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866">
                  <a:extLst>
                    <a:ext uri="{9D8B030D-6E8A-4147-A177-3AD203B41FA5}">
                      <a16:colId xmlns:a16="http://schemas.microsoft.com/office/drawing/2014/main" val="1763597850"/>
                    </a:ext>
                  </a:extLst>
                </a:gridCol>
                <a:gridCol w="2932974">
                  <a:extLst>
                    <a:ext uri="{9D8B030D-6E8A-4147-A177-3AD203B41FA5}">
                      <a16:colId xmlns:a16="http://schemas.microsoft.com/office/drawing/2014/main" val="4105250466"/>
                    </a:ext>
                  </a:extLst>
                </a:gridCol>
                <a:gridCol w="3025019">
                  <a:extLst>
                    <a:ext uri="{9D8B030D-6E8A-4147-A177-3AD203B41FA5}">
                      <a16:colId xmlns:a16="http://schemas.microsoft.com/office/drawing/2014/main" val="3318648439"/>
                    </a:ext>
                  </a:extLst>
                </a:gridCol>
                <a:gridCol w="2171821">
                  <a:extLst>
                    <a:ext uri="{9D8B030D-6E8A-4147-A177-3AD203B41FA5}">
                      <a16:colId xmlns:a16="http://schemas.microsoft.com/office/drawing/2014/main" val="2511566228"/>
                    </a:ext>
                  </a:extLst>
                </a:gridCol>
              </a:tblGrid>
              <a:tr h="724408">
                <a:tc>
                  <a:txBody>
                    <a:bodyPr/>
                    <a:lstStyle/>
                    <a:p>
                      <a:pPr algn="ctr"/>
                      <a:r>
                        <a:rPr lang="ru-RU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Симптом</a:t>
                      </a:r>
                      <a:r>
                        <a:rPr lang="ru-RU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Вероятная причина </a:t>
                      </a: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Алгоритм действий </a:t>
                      </a: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Статус обращения</a:t>
                      </a: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3570103619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2172369348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104439073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2276334557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4160189740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1944425680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201303084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2194967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594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0B5B-1556-8910-20F6-948A86C49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0CEEE-92C5-4D0C-D510-8FAC8AC39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162" y="187016"/>
            <a:ext cx="10058400" cy="1347144"/>
          </a:xfrm>
        </p:spPr>
        <p:txBody>
          <a:bodyPr>
            <a:normAutofit/>
          </a:bodyPr>
          <a:lstStyle/>
          <a:p>
            <a:pPr lvl="0" algn="ctr">
              <a:lnSpc>
                <a:spcPct val="150000"/>
              </a:lnSpc>
              <a:tabLst>
                <a:tab pos="630555" algn="l"/>
              </a:tabLst>
            </a:pP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Журнал учёта и регистрации инцидентов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17CEBB98-D2C8-7707-4A4B-D05FCA821A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2620387"/>
              </p:ext>
            </p:extLst>
          </p:nvPr>
        </p:nvGraphicFramePr>
        <p:xfrm>
          <a:off x="899160" y="2105660"/>
          <a:ext cx="10393680" cy="363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>
                  <a:extLst>
                    <a:ext uri="{9D8B030D-6E8A-4147-A177-3AD203B41FA5}">
                      <a16:colId xmlns:a16="http://schemas.microsoft.com/office/drawing/2014/main" val="176359785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4105250466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3318648439"/>
                    </a:ext>
                  </a:extLst>
                </a:gridCol>
                <a:gridCol w="2440940">
                  <a:extLst>
                    <a:ext uri="{9D8B030D-6E8A-4147-A177-3AD203B41FA5}">
                      <a16:colId xmlns:a16="http://schemas.microsoft.com/office/drawing/2014/main" val="2511566228"/>
                    </a:ext>
                  </a:extLst>
                </a:gridCol>
              </a:tblGrid>
              <a:tr h="724408">
                <a:tc>
                  <a:txBody>
                    <a:bodyPr/>
                    <a:lstStyle/>
                    <a:p>
                      <a:pPr algn="ctr"/>
                      <a:r>
                        <a:rPr lang="ru-RU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</a:t>
                      </a:r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оборудования</a:t>
                      </a: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 проблемы</a:t>
                      </a: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Статус выполнения </a:t>
                      </a: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3570103619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2172369348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104439073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2276334557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4160189740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1944425680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201303084"/>
                  </a:ext>
                </a:extLst>
              </a:tr>
              <a:tr h="409448"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tc>
                  <a:txBody>
                    <a:bodyPr/>
                    <a:lstStyle/>
                    <a:p>
                      <a:endParaRPr lang="ru-RU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4488" marR="94488" marT="47244" marB="47244"/>
                </a:tc>
                <a:extLst>
                  <a:ext uri="{0D108BD9-81ED-4DB2-BD59-A6C34878D82A}">
                    <a16:rowId xmlns:a16="http://schemas.microsoft.com/office/drawing/2014/main" val="2194967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408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CAC1F-0F84-4B46-413D-AEE57B9E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83488"/>
            <a:ext cx="10058400" cy="92333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3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Заключение</a:t>
            </a:r>
            <a:endParaRPr lang="ru-RU" sz="8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A4C34-79CC-E1A8-BF78-A4A4D8D3A10E}"/>
              </a:ext>
            </a:extLst>
          </p:cNvPr>
          <p:cNvSpPr txBox="1"/>
          <p:nvPr/>
        </p:nvSpPr>
        <p:spPr>
          <a:xfrm>
            <a:off x="602249" y="1716560"/>
            <a:ext cx="10987501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>
              <a:lnSpc>
                <a:spcPct val="150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Производственная практика предоставила возможность закрепить теоретические знания и приобрести практические навыки в области профессиональной деятельности, связанной с проектированием, разработкой и сопровождением информационных систем,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соадминистрированием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баз данных и серверов.</a:t>
            </a:r>
          </a:p>
          <a:p>
            <a:pPr indent="450000" algn="just">
              <a:lnSpc>
                <a:spcPct val="150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над индивидуальным заданием позволила закрепить компетенции, связанные с анализом технических процессов и созданием нормативных документов.</a:t>
            </a:r>
          </a:p>
        </p:txBody>
      </p:sp>
    </p:spTree>
    <p:extLst>
      <p:ext uri="{BB962C8B-B14F-4D97-AF65-F5344CB8AC3E}">
        <p14:creationId xmlns:p14="http://schemas.microsoft.com/office/powerpoint/2010/main" val="4270700150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816</TotalTime>
  <Words>818</Words>
  <Application>Microsoft Office PowerPoint</Application>
  <PresentationFormat>Широкоэкранный</PresentationFormat>
  <Paragraphs>93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Ретро</vt:lpstr>
      <vt:lpstr>ПРОИЗВОДСТВЕННАЯ ПРАКТИКА ПО ПМ 05, ПМ 06 и ПМ 07</vt:lpstr>
      <vt:lpstr>Цель производственной практики</vt:lpstr>
      <vt:lpstr>Характеристика предприятия МБОУ «СОШ №6»</vt:lpstr>
      <vt:lpstr>ПМ 05 Проектирование и разработка информационных систем</vt:lpstr>
      <vt:lpstr>ПМ 06 Сопровождение информационных систем</vt:lpstr>
      <vt:lpstr>ПМ 07 Соадминистрирование баз данных и серверов</vt:lpstr>
      <vt:lpstr>Индивидуальное задание</vt:lpstr>
      <vt:lpstr>Цель и задачи</vt:lpstr>
      <vt:lpstr>Эксплуатационная документация </vt:lpstr>
      <vt:lpstr>Правила эксплуатации и техника безопасности</vt:lpstr>
      <vt:lpstr>Регламент технического обслуживания</vt:lpstr>
      <vt:lpstr>Справочник типовых неисправностей</vt:lpstr>
      <vt:lpstr>Журнал учёта и регистрации инцидентов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 и науки Ханты-Мансийского автономного округа – Югры БЮДЖЕТНОЕ УЧРЕЖДЕНИЕ ПРОФЕССИОНАЛЬНОГО ОБРАЗОВАНИЯ ХАНТЫ-МАНСИЙСКОГО АВТОНОМНОГО ОКРУГА – ЮГРЫ «ЮГОРСКИЙ ПОЛИТЕХНИЧЕСКИЙ КОЛЛЕДЖ»</dc:title>
  <dc:creator>Елизавета</dc:creator>
  <cp:lastModifiedBy>mlzw mlzw</cp:lastModifiedBy>
  <cp:revision>44</cp:revision>
  <dcterms:created xsi:type="dcterms:W3CDTF">2023-03-20T15:42:17Z</dcterms:created>
  <dcterms:modified xsi:type="dcterms:W3CDTF">2026-04-17T08:34:05Z</dcterms:modified>
</cp:coreProperties>
</file>